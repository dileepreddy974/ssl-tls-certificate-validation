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58" r:id="rId4"/>
    <p:sldId id="260" r:id="rId5"/>
    <p:sldId id="261" r:id="rId6"/>
    <p:sldId id="263" r:id="rId7"/>
    <p:sldId id="265" r:id="rId8"/>
    <p:sldId id="273" r:id="rId9"/>
    <p:sldId id="274" r:id="rId10"/>
    <p:sldId id="268" r:id="rId11"/>
    <p:sldId id="272" r:id="rId12"/>
    <p:sldId id="269" r:id="rId13"/>
    <p:sldId id="279" r:id="rId14"/>
    <p:sldId id="278" r:id="rId15"/>
    <p:sldId id="270" r:id="rId16"/>
    <p:sldId id="266" r:id="rId17"/>
    <p:sldId id="267" r:id="rId18"/>
    <p:sldId id="271"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telli Sahaja" userId="678140e12855feca" providerId="LiveId" clId="{452DA19B-AF87-4A75-A45D-11692D9DAD5D}"/>
    <pc:docChg chg="addSld delSld modSld sldOrd">
      <pc:chgData name="yatelli Sahaja" userId="678140e12855feca" providerId="LiveId" clId="{452DA19B-AF87-4A75-A45D-11692D9DAD5D}" dt="2026-03-16T18:56:37.387" v="62"/>
      <pc:docMkLst>
        <pc:docMk/>
      </pc:docMkLst>
      <pc:sldChg chg="ord">
        <pc:chgData name="yatelli Sahaja" userId="678140e12855feca" providerId="LiveId" clId="{452DA19B-AF87-4A75-A45D-11692D9DAD5D}" dt="2026-03-16T18:56:37.387" v="62"/>
        <pc:sldMkLst>
          <pc:docMk/>
          <pc:sldMk cId="1844754772" sldId="266"/>
        </pc:sldMkLst>
      </pc:sldChg>
      <pc:sldChg chg="new del">
        <pc:chgData name="yatelli Sahaja" userId="678140e12855feca" providerId="LiveId" clId="{452DA19B-AF87-4A75-A45D-11692D9DAD5D}" dt="2026-03-16T18:55:30.293" v="30" actId="2696"/>
        <pc:sldMkLst>
          <pc:docMk/>
          <pc:sldMk cId="3863479506" sldId="276"/>
        </pc:sldMkLst>
      </pc:sldChg>
      <pc:sldChg chg="new del">
        <pc:chgData name="yatelli Sahaja" userId="678140e12855feca" providerId="LiveId" clId="{452DA19B-AF87-4A75-A45D-11692D9DAD5D}" dt="2026-03-16T18:55:33.230" v="31" actId="2696"/>
        <pc:sldMkLst>
          <pc:docMk/>
          <pc:sldMk cId="1917701713" sldId="277"/>
        </pc:sldMkLst>
      </pc:sldChg>
      <pc:sldChg chg="addSp delSp modSp new mod ord">
        <pc:chgData name="yatelli Sahaja" userId="678140e12855feca" providerId="LiveId" clId="{452DA19B-AF87-4A75-A45D-11692D9DAD5D}" dt="2026-03-16T18:56:33.794" v="60"/>
        <pc:sldMkLst>
          <pc:docMk/>
          <pc:sldMk cId="1023451232" sldId="278"/>
        </pc:sldMkLst>
        <pc:spChg chg="mod">
          <ac:chgData name="yatelli Sahaja" userId="678140e12855feca" providerId="LiveId" clId="{452DA19B-AF87-4A75-A45D-11692D9DAD5D}" dt="2026-03-16T18:54:58.326" v="21" actId="113"/>
          <ac:spMkLst>
            <pc:docMk/>
            <pc:sldMk cId="1023451232" sldId="278"/>
            <ac:spMk id="2" creationId="{D846562B-288F-4319-043B-DA41FD46DA55}"/>
          </ac:spMkLst>
        </pc:spChg>
        <pc:spChg chg="del">
          <ac:chgData name="yatelli Sahaja" userId="678140e12855feca" providerId="LiveId" clId="{452DA19B-AF87-4A75-A45D-11692D9DAD5D}" dt="2026-03-16T18:55:09.349" v="23"/>
          <ac:spMkLst>
            <pc:docMk/>
            <pc:sldMk cId="1023451232" sldId="278"/>
            <ac:spMk id="3" creationId="{EA08A33D-0742-9C69-0DFB-8CC8421A37C4}"/>
          </ac:spMkLst>
        </pc:spChg>
        <pc:picChg chg="add mod ord">
          <ac:chgData name="yatelli Sahaja" userId="678140e12855feca" providerId="LiveId" clId="{452DA19B-AF87-4A75-A45D-11692D9DAD5D}" dt="2026-03-16T18:55:22.589" v="29" actId="14100"/>
          <ac:picMkLst>
            <pc:docMk/>
            <pc:sldMk cId="1023451232" sldId="278"/>
            <ac:picMk id="5" creationId="{354F47F9-49FA-F047-FFEF-2727FBAC6B56}"/>
          </ac:picMkLst>
        </pc:picChg>
      </pc:sldChg>
      <pc:sldChg chg="addSp delSp modSp new mod ord">
        <pc:chgData name="yatelli Sahaja" userId="678140e12855feca" providerId="LiveId" clId="{452DA19B-AF87-4A75-A45D-11692D9DAD5D}" dt="2026-03-16T18:56:25.364" v="58"/>
        <pc:sldMkLst>
          <pc:docMk/>
          <pc:sldMk cId="1692126720" sldId="279"/>
        </pc:sldMkLst>
        <pc:spChg chg="mod">
          <ac:chgData name="yatelli Sahaja" userId="678140e12855feca" providerId="LiveId" clId="{452DA19B-AF87-4A75-A45D-11692D9DAD5D}" dt="2026-03-16T18:55:54.605" v="51" actId="2711"/>
          <ac:spMkLst>
            <pc:docMk/>
            <pc:sldMk cId="1692126720" sldId="279"/>
            <ac:spMk id="2" creationId="{999CB7FA-5947-77E3-9525-9194DBCFA670}"/>
          </ac:spMkLst>
        </pc:spChg>
        <pc:spChg chg="del">
          <ac:chgData name="yatelli Sahaja" userId="678140e12855feca" providerId="LiveId" clId="{452DA19B-AF87-4A75-A45D-11692D9DAD5D}" dt="2026-03-16T18:56:07.245" v="53"/>
          <ac:spMkLst>
            <pc:docMk/>
            <pc:sldMk cId="1692126720" sldId="279"/>
            <ac:spMk id="3" creationId="{904AE735-05AA-0746-67D6-65D85FFCCB6F}"/>
          </ac:spMkLst>
        </pc:spChg>
        <pc:picChg chg="add mod ord">
          <ac:chgData name="yatelli Sahaja" userId="678140e12855feca" providerId="LiveId" clId="{452DA19B-AF87-4A75-A45D-11692D9DAD5D}" dt="2026-03-16T18:56:16.617" v="56" actId="14100"/>
          <ac:picMkLst>
            <pc:docMk/>
            <pc:sldMk cId="1692126720" sldId="279"/>
            <ac:picMk id="5" creationId="{7D91DA8D-5C27-DB5D-5699-A7161D5782D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60702-9FF1-305A-E119-A9448BAE6E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58B9D27-5E7B-5C45-C3A8-0560C414EA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DCD37A-B654-9E00-F3FA-7F8BED9DD543}"/>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5" name="Footer Placeholder 4">
            <a:extLst>
              <a:ext uri="{FF2B5EF4-FFF2-40B4-BE49-F238E27FC236}">
                <a16:creationId xmlns:a16="http://schemas.microsoft.com/office/drawing/2014/main" id="{2FEB0396-FA93-BB42-1644-4351DF3FA2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C2D420-A0FA-10A8-95B6-E61E2DE4C747}"/>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1572351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5BAF5-E122-030E-D734-7BA4476936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D96831-B625-054A-1EA5-4B0E065179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FC87A4-FAED-9A0D-4A31-EEFBBC83025D}"/>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5" name="Footer Placeholder 4">
            <a:extLst>
              <a:ext uri="{FF2B5EF4-FFF2-40B4-BE49-F238E27FC236}">
                <a16:creationId xmlns:a16="http://schemas.microsoft.com/office/drawing/2014/main" id="{B2FF992B-0B86-277D-BB3A-CE68A96AE2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E475C3-500C-A2A1-89FE-4C41529CDEAC}"/>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3322267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0E070-9355-C449-1F52-3A22DCF096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95F458-D772-8B52-D3D9-E5CC4DBC66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BF16D1-8045-3F03-F9AC-E9A006F5671B}"/>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5" name="Footer Placeholder 4">
            <a:extLst>
              <a:ext uri="{FF2B5EF4-FFF2-40B4-BE49-F238E27FC236}">
                <a16:creationId xmlns:a16="http://schemas.microsoft.com/office/drawing/2014/main" id="{D98C4663-A990-0889-5D53-6DCF92E83F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323E92-38CA-5CFF-9960-42D9963FD7CE}"/>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2555483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4DBE6-25CB-1D17-EF64-612BD9001A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1F5DB0-D5AF-5933-4D55-D1CB88D790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9457B7-3D75-CDA3-324F-2B8BD2E979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8A436B-E4DB-06A1-74AC-5D5DEF38197C}"/>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6" name="Footer Placeholder 5">
            <a:extLst>
              <a:ext uri="{FF2B5EF4-FFF2-40B4-BE49-F238E27FC236}">
                <a16:creationId xmlns:a16="http://schemas.microsoft.com/office/drawing/2014/main" id="{48B2B069-AF60-E9D2-FAC5-277CB7345D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B6BFE7-8B1A-AFCF-8EB5-9457D3F208B0}"/>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4207238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BD149-3803-B31B-C29A-A436F97F79D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DCA37D-B894-E0D1-2F13-027617A7B1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DDBA14-EA56-B740-46B0-11141191B4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243484-933C-0EC6-3BBC-DC2168EEF5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AC8759-B30F-E49A-78D0-D51573BC90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8D80CD-1767-4F6A-06D9-EB38104BA725}"/>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8" name="Footer Placeholder 7">
            <a:extLst>
              <a:ext uri="{FF2B5EF4-FFF2-40B4-BE49-F238E27FC236}">
                <a16:creationId xmlns:a16="http://schemas.microsoft.com/office/drawing/2014/main" id="{0D676232-FCD0-BDA3-7A69-A8BC2602E47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89219FC-EA6A-3075-65AC-0495B017D682}"/>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3797518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05AE-E0E7-E589-1B21-44C828C0A9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DA55A35-17EA-5F83-EBB2-E238DC4965B6}"/>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4" name="Footer Placeholder 3">
            <a:extLst>
              <a:ext uri="{FF2B5EF4-FFF2-40B4-BE49-F238E27FC236}">
                <a16:creationId xmlns:a16="http://schemas.microsoft.com/office/drawing/2014/main" id="{31543282-677A-508B-51D4-276A2DED476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A0AC643-93EF-3E7A-DDAF-05AC05AA8ECE}"/>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1626416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F3B44C-1B20-A4B5-055D-E8824AAA4493}"/>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3" name="Footer Placeholder 2">
            <a:extLst>
              <a:ext uri="{FF2B5EF4-FFF2-40B4-BE49-F238E27FC236}">
                <a16:creationId xmlns:a16="http://schemas.microsoft.com/office/drawing/2014/main" id="{566BDD15-AC2C-B7B7-A4C9-75CD13E2703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5F01D4-481B-5EAE-4D02-AB5B554A24BE}"/>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2906855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8DB07-D0FF-AC27-269E-7371717FE4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B9C83B8-0B34-0CA3-2234-B9DC009E4D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F0BEB8-EBCB-BB46-6408-E36481B2CB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C1AD2E-2CB9-D08C-62DA-74C86D34D1DF}"/>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6" name="Footer Placeholder 5">
            <a:extLst>
              <a:ext uri="{FF2B5EF4-FFF2-40B4-BE49-F238E27FC236}">
                <a16:creationId xmlns:a16="http://schemas.microsoft.com/office/drawing/2014/main" id="{4DD3D55C-24C7-610D-07D3-6B9254C3D2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DC1F2A-3E12-351F-9860-D5DF9F31F9A9}"/>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4005161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20D55-DF16-1B43-F71B-5499BD374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D65EE7C-FC5E-5B70-6E0D-AABC3C6D6C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2BED779-490C-CDC7-BA51-51C72CB76E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3C0F3D-032C-BA7B-D2F9-63C7F882951D}"/>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6" name="Footer Placeholder 5">
            <a:extLst>
              <a:ext uri="{FF2B5EF4-FFF2-40B4-BE49-F238E27FC236}">
                <a16:creationId xmlns:a16="http://schemas.microsoft.com/office/drawing/2014/main" id="{2190CADF-3F79-446B-2A01-6EF6FDEE6B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BBB56C-23E7-3EFF-14AE-8C83692118EC}"/>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1565521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E2D7A-EBFA-9980-CE4A-E0FAADA80FF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FEE50A-4B69-7BD7-2FB1-55E25E064C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8FF1FB-D9E0-066D-CD56-3C43226760AF}"/>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5" name="Footer Placeholder 4">
            <a:extLst>
              <a:ext uri="{FF2B5EF4-FFF2-40B4-BE49-F238E27FC236}">
                <a16:creationId xmlns:a16="http://schemas.microsoft.com/office/drawing/2014/main" id="{C83BF662-3C52-8344-1A7B-4D97D542C1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51A784-9645-F137-42D1-0AE9D03C2740}"/>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3794600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4D3680-B4AF-E3CD-240C-A2EBD8DD52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0A5C94-1003-C28B-A989-AF89A6C6F3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3ECA7A-99ED-8A63-D0D1-4AEE793A9207}"/>
              </a:ext>
            </a:extLst>
          </p:cNvPr>
          <p:cNvSpPr>
            <a:spLocks noGrp="1"/>
          </p:cNvSpPr>
          <p:nvPr>
            <p:ph type="dt" sz="half" idx="10"/>
          </p:nvPr>
        </p:nvSpPr>
        <p:spPr/>
        <p:txBody>
          <a:bodyPr/>
          <a:lstStyle/>
          <a:p>
            <a:fld id="{F59D098D-240F-44FF-94DD-D8E0EA9E61DB}" type="datetimeFigureOut">
              <a:rPr lang="en-IN" smtClean="0"/>
              <a:t>17-03-2026</a:t>
            </a:fld>
            <a:endParaRPr lang="en-IN"/>
          </a:p>
        </p:txBody>
      </p:sp>
      <p:sp>
        <p:nvSpPr>
          <p:cNvPr id="5" name="Footer Placeholder 4">
            <a:extLst>
              <a:ext uri="{FF2B5EF4-FFF2-40B4-BE49-F238E27FC236}">
                <a16:creationId xmlns:a16="http://schemas.microsoft.com/office/drawing/2014/main" id="{C4DE351E-E500-4F21-2FE4-781B213D05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F64713-C059-E37A-F2A5-84F8415CAD9C}"/>
              </a:ext>
            </a:extLst>
          </p:cNvPr>
          <p:cNvSpPr>
            <a:spLocks noGrp="1"/>
          </p:cNvSpPr>
          <p:nvPr>
            <p:ph type="sldNum" sz="quarter" idx="12"/>
          </p:nvPr>
        </p:nvSpPr>
        <p:spPr/>
        <p:txBody>
          <a:bodyPr/>
          <a:lstStyle/>
          <a:p>
            <a:fld id="{88B80056-EDB3-4A1F-827C-E6B7CC65A23F}" type="slidenum">
              <a:rPr lang="en-IN" smtClean="0"/>
              <a:t>‹#›</a:t>
            </a:fld>
            <a:endParaRPr lang="en-IN"/>
          </a:p>
        </p:txBody>
      </p:sp>
    </p:spTree>
    <p:extLst>
      <p:ext uri="{BB962C8B-B14F-4D97-AF65-F5344CB8AC3E}">
        <p14:creationId xmlns:p14="http://schemas.microsoft.com/office/powerpoint/2010/main" val="2573443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94E5D5-CFBC-CE7B-EFA9-5E6756474D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B3B03C-9B2A-C88F-406B-94479B29DE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FF88AD-F30E-31EA-AAE2-0486AA4482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9D098D-240F-44FF-94DD-D8E0EA9E61DB}" type="datetimeFigureOut">
              <a:rPr lang="en-IN" smtClean="0"/>
              <a:t>17-03-2026</a:t>
            </a:fld>
            <a:endParaRPr lang="en-IN"/>
          </a:p>
        </p:txBody>
      </p:sp>
      <p:sp>
        <p:nvSpPr>
          <p:cNvPr id="5" name="Footer Placeholder 4">
            <a:extLst>
              <a:ext uri="{FF2B5EF4-FFF2-40B4-BE49-F238E27FC236}">
                <a16:creationId xmlns:a16="http://schemas.microsoft.com/office/drawing/2014/main" id="{6905F203-C0B6-FD6D-8039-FD533E3533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C4BFA79-CE5F-BF4B-1FE9-A1A0282854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B80056-EDB3-4A1F-827C-E6B7CC65A23F}" type="slidenum">
              <a:rPr lang="en-IN" smtClean="0"/>
              <a:t>‹#›</a:t>
            </a:fld>
            <a:endParaRPr lang="en-IN"/>
          </a:p>
        </p:txBody>
      </p:sp>
    </p:spTree>
    <p:extLst>
      <p:ext uri="{BB962C8B-B14F-4D97-AF65-F5344CB8AC3E}">
        <p14:creationId xmlns:p14="http://schemas.microsoft.com/office/powerpoint/2010/main" val="3697707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30804" y="303906"/>
            <a:ext cx="8457080" cy="1628760"/>
          </a:xfrm>
          <a:custGeom>
            <a:avLst/>
            <a:gdLst/>
            <a:ahLst/>
            <a:cxnLst/>
            <a:rect l="l" t="t" r="r" b="b"/>
            <a:pathLst>
              <a:path w="12685620" h="2443140">
                <a:moveTo>
                  <a:pt x="0" y="0"/>
                </a:moveTo>
                <a:lnTo>
                  <a:pt x="12685620" y="0"/>
                </a:lnTo>
                <a:lnTo>
                  <a:pt x="12685620" y="2443140"/>
                </a:lnTo>
                <a:lnTo>
                  <a:pt x="0" y="2443140"/>
                </a:lnTo>
                <a:lnTo>
                  <a:pt x="0" y="0"/>
                </a:lnTo>
                <a:close/>
              </a:path>
            </a:pathLst>
          </a:custGeom>
          <a:blipFill>
            <a:blip r:embed="rId2"/>
            <a:stretch>
              <a:fillRect l="-31785" t="-50132" r="-22146" b="-414967"/>
            </a:stretch>
          </a:blipFill>
        </p:spPr>
      </p:sp>
      <p:sp>
        <p:nvSpPr>
          <p:cNvPr id="3" name="Freeform 3"/>
          <p:cNvSpPr/>
          <p:nvPr/>
        </p:nvSpPr>
        <p:spPr>
          <a:xfrm>
            <a:off x="295295" y="228123"/>
            <a:ext cx="1727043" cy="1628760"/>
          </a:xfrm>
          <a:custGeom>
            <a:avLst/>
            <a:gdLst/>
            <a:ahLst/>
            <a:cxnLst/>
            <a:rect l="l" t="t" r="r" b="b"/>
            <a:pathLst>
              <a:path w="2590564" h="2443140">
                <a:moveTo>
                  <a:pt x="0" y="0"/>
                </a:moveTo>
                <a:lnTo>
                  <a:pt x="2590564" y="0"/>
                </a:lnTo>
                <a:lnTo>
                  <a:pt x="2590564" y="2443140"/>
                </a:lnTo>
                <a:lnTo>
                  <a:pt x="0" y="2443140"/>
                </a:lnTo>
                <a:lnTo>
                  <a:pt x="0" y="0"/>
                </a:lnTo>
                <a:close/>
              </a:path>
            </a:pathLst>
          </a:custGeom>
          <a:blipFill>
            <a:blip r:embed="rId3"/>
            <a:stretch>
              <a:fillRect t="-6034"/>
            </a:stretch>
          </a:blipFill>
        </p:spPr>
      </p:sp>
      <p:sp>
        <p:nvSpPr>
          <p:cNvPr id="4" name="TextBox 4"/>
          <p:cNvSpPr txBox="1"/>
          <p:nvPr/>
        </p:nvSpPr>
        <p:spPr>
          <a:xfrm>
            <a:off x="2336800" y="2841808"/>
            <a:ext cx="8034867" cy="741870"/>
          </a:xfrm>
          <a:prstGeom prst="rect">
            <a:avLst/>
          </a:prstGeom>
        </p:spPr>
        <p:txBody>
          <a:bodyPr wrap="square" lIns="0" tIns="0" rIns="0" bIns="0" rtlCol="0" anchor="t">
            <a:spAutoFit/>
          </a:bodyPr>
          <a:lstStyle/>
          <a:p>
            <a:pPr>
              <a:lnSpc>
                <a:spcPts val="6720"/>
              </a:lnSpc>
            </a:pPr>
            <a:r>
              <a:rPr lang="en-US" sz="3200" b="1" dirty="0">
                <a:solidFill>
                  <a:srgbClr val="000000"/>
                </a:solidFill>
                <a:latin typeface="Calisto MT" panose="02040603050505030304" pitchFamily="18" charset="0"/>
                <a:ea typeface="Canva Sans Bold"/>
                <a:cs typeface="Canva Sans Bold"/>
                <a:sym typeface="Canva Sans Bold"/>
              </a:rPr>
              <a:t>SSL/TLS CERTIFICATE VALIDATION</a:t>
            </a:r>
          </a:p>
        </p:txBody>
      </p:sp>
      <p:sp>
        <p:nvSpPr>
          <p:cNvPr id="5" name="TextBox 5"/>
          <p:cNvSpPr txBox="1"/>
          <p:nvPr/>
        </p:nvSpPr>
        <p:spPr>
          <a:xfrm>
            <a:off x="556628" y="5064578"/>
            <a:ext cx="3006518" cy="1120500"/>
          </a:xfrm>
          <a:prstGeom prst="rect">
            <a:avLst/>
          </a:prstGeom>
        </p:spPr>
        <p:txBody>
          <a:bodyPr lIns="0" tIns="0" rIns="0" bIns="0" rtlCol="0" anchor="t">
            <a:spAutoFit/>
          </a:bodyPr>
          <a:lstStyle/>
          <a:p>
            <a:pPr algn="ctr">
              <a:lnSpc>
                <a:spcPts val="2999"/>
              </a:lnSpc>
            </a:pPr>
            <a:r>
              <a:rPr lang="en-US" sz="2143" b="1" spc="-105" dirty="0">
                <a:solidFill>
                  <a:schemeClr val="tx1">
                    <a:lumMod val="75000"/>
                    <a:lumOff val="25000"/>
                  </a:schemeClr>
                </a:solidFill>
                <a:latin typeface="Canva Sans Bold"/>
                <a:ea typeface="Canva Sans Bold"/>
                <a:cs typeface="Canva Sans Bold"/>
                <a:sym typeface="Canva Sans Bold"/>
              </a:rPr>
              <a:t>Under the </a:t>
            </a:r>
            <a:r>
              <a:rPr lang="en-US" sz="2143" b="1" spc="-105" dirty="0" err="1">
                <a:solidFill>
                  <a:schemeClr val="tx1">
                    <a:lumMod val="75000"/>
                    <a:lumOff val="25000"/>
                  </a:schemeClr>
                </a:solidFill>
                <a:latin typeface="Canva Sans Bold"/>
                <a:ea typeface="Canva Sans Bold"/>
                <a:cs typeface="Canva Sans Bold"/>
                <a:sym typeface="Canva Sans Bold"/>
              </a:rPr>
              <a:t>Guidence</a:t>
            </a:r>
            <a:r>
              <a:rPr lang="en-US" sz="2143" b="1" spc="-105" dirty="0">
                <a:solidFill>
                  <a:schemeClr val="tx1">
                    <a:lumMod val="75000"/>
                    <a:lumOff val="25000"/>
                  </a:schemeClr>
                </a:solidFill>
                <a:latin typeface="Canva Sans Bold"/>
                <a:ea typeface="Canva Sans Bold"/>
                <a:cs typeface="Canva Sans Bold"/>
                <a:sym typeface="Canva Sans Bold"/>
              </a:rPr>
              <a:t> of:</a:t>
            </a:r>
          </a:p>
          <a:p>
            <a:pPr algn="ctr">
              <a:lnSpc>
                <a:spcPts val="2999"/>
              </a:lnSpc>
            </a:pPr>
            <a:r>
              <a:rPr lang="en-US" sz="2143" b="1" spc="-105" dirty="0">
                <a:solidFill>
                  <a:schemeClr val="tx1">
                    <a:lumMod val="75000"/>
                    <a:lumOff val="25000"/>
                  </a:schemeClr>
                </a:solidFill>
                <a:latin typeface="Calibri Light" panose="020F0302020204030204" pitchFamily="34" charset="0"/>
                <a:ea typeface="Calibri Light" panose="020F0302020204030204" pitchFamily="34" charset="0"/>
                <a:cs typeface="Calibri Light" panose="020F0302020204030204" pitchFamily="34" charset="0"/>
                <a:sym typeface="Canva Sans Bold"/>
              </a:rPr>
              <a:t>Bhavya Mam</a:t>
            </a:r>
          </a:p>
          <a:p>
            <a:pPr algn="ctr">
              <a:lnSpc>
                <a:spcPts val="2999"/>
              </a:lnSpc>
            </a:pPr>
            <a:r>
              <a:rPr lang="en-US" sz="2143" spc="-105" dirty="0">
                <a:solidFill>
                  <a:srgbClr val="000000"/>
                </a:solidFill>
                <a:latin typeface="Canva Sans"/>
                <a:ea typeface="Canva Sans"/>
                <a:cs typeface="Canva Sans"/>
                <a:sym typeface="Canva Sans"/>
              </a:rPr>
              <a:t>Associate Professor</a:t>
            </a:r>
          </a:p>
        </p:txBody>
      </p:sp>
      <p:sp>
        <p:nvSpPr>
          <p:cNvPr id="6" name="TextBox 6"/>
          <p:cNvSpPr txBox="1"/>
          <p:nvPr/>
        </p:nvSpPr>
        <p:spPr>
          <a:xfrm>
            <a:off x="0" y="1955042"/>
            <a:ext cx="12192000" cy="549381"/>
          </a:xfrm>
          <a:prstGeom prst="rect">
            <a:avLst/>
          </a:prstGeom>
        </p:spPr>
        <p:txBody>
          <a:bodyPr lIns="0" tIns="0" rIns="0" bIns="0" rtlCol="0" anchor="t">
            <a:spAutoFit/>
          </a:bodyPr>
          <a:lstStyle/>
          <a:p>
            <a:pPr algn="ctr">
              <a:lnSpc>
                <a:spcPts val="4667"/>
              </a:lnSpc>
            </a:pPr>
            <a:r>
              <a:rPr lang="en-US" sz="3334" b="1" dirty="0">
                <a:solidFill>
                  <a:srgbClr val="000000"/>
                </a:solidFill>
                <a:latin typeface="Canva Sans Bold"/>
                <a:ea typeface="Canva Sans Bold"/>
                <a:cs typeface="Canva Sans Bold"/>
                <a:sym typeface="Canva Sans Bold"/>
              </a:rPr>
              <a:t>Real Time </a:t>
            </a:r>
            <a:r>
              <a:rPr lang="en-US" sz="3334" b="1">
                <a:solidFill>
                  <a:srgbClr val="000000"/>
                </a:solidFill>
                <a:latin typeface="Canva Sans Bold"/>
                <a:ea typeface="Canva Sans Bold"/>
                <a:cs typeface="Canva Sans Bold"/>
                <a:sym typeface="Canva Sans Bold"/>
              </a:rPr>
              <a:t>Research Project - 2026</a:t>
            </a:r>
          </a:p>
        </p:txBody>
      </p:sp>
      <p:sp>
        <p:nvSpPr>
          <p:cNvPr id="8" name="TextBox 8"/>
          <p:cNvSpPr txBox="1"/>
          <p:nvPr/>
        </p:nvSpPr>
        <p:spPr>
          <a:xfrm>
            <a:off x="6824134" y="4405346"/>
            <a:ext cx="4942782" cy="2274662"/>
          </a:xfrm>
          <a:prstGeom prst="rect">
            <a:avLst/>
          </a:prstGeom>
        </p:spPr>
        <p:txBody>
          <a:bodyPr wrap="square" lIns="0" tIns="0" rIns="0" bIns="0" rtlCol="0" anchor="t">
            <a:spAutoFit/>
          </a:bodyPr>
          <a:lstStyle/>
          <a:p>
            <a:pPr>
              <a:lnSpc>
                <a:spcPts val="2999"/>
              </a:lnSpc>
            </a:pPr>
            <a:endParaRPr lang="en-US" sz="2143" b="1" spc="-105" dirty="0">
              <a:solidFill>
                <a:srgbClr val="8C52FF"/>
              </a:solidFill>
              <a:latin typeface="Canva Sans Bold"/>
              <a:ea typeface="Canva Sans Bold"/>
              <a:cs typeface="Canva Sans Bold"/>
              <a:sym typeface="Canva Sans Bold"/>
            </a:endParaRPr>
          </a:p>
          <a:p>
            <a:pPr>
              <a:lnSpc>
                <a:spcPts val="2999"/>
              </a:lnSpc>
            </a:pPr>
            <a:r>
              <a:rPr lang="en-US" sz="2143" b="1" spc="-105" dirty="0">
                <a:solidFill>
                  <a:srgbClr val="8C52FF"/>
                </a:solidFill>
                <a:latin typeface="Canva Sans Bold"/>
                <a:ea typeface="Canva Sans Bold"/>
                <a:cs typeface="Canva Sans Bold"/>
                <a:sym typeface="Canva Sans Bold"/>
              </a:rPr>
              <a:t> </a:t>
            </a:r>
            <a:r>
              <a:rPr lang="en-US" sz="2143" b="1" spc="-105" dirty="0">
                <a:latin typeface="Canva Sans Bold"/>
                <a:ea typeface="Canva Sans Bold"/>
                <a:cs typeface="Canva Sans Bold"/>
                <a:sym typeface="Canva Sans Bold"/>
              </a:rPr>
              <a:t>By </a:t>
            </a:r>
            <a:r>
              <a:rPr lang="en-US" sz="2143" b="1" spc="-105" dirty="0">
                <a:solidFill>
                  <a:srgbClr val="000000"/>
                </a:solidFill>
                <a:latin typeface="Canva Sans Bold"/>
                <a:ea typeface="Canva Sans Bold"/>
                <a:cs typeface="Canva Sans Bold"/>
                <a:sym typeface="Canva Sans Bold"/>
              </a:rPr>
              <a:t>Batch F20</a:t>
            </a:r>
          </a:p>
          <a:p>
            <a:pPr>
              <a:lnSpc>
                <a:spcPts val="2999"/>
              </a:lnSpc>
            </a:pPr>
            <a:r>
              <a:rPr lang="en-US" sz="2143" spc="-105" dirty="0">
                <a:solidFill>
                  <a:srgbClr val="000000"/>
                </a:solidFill>
                <a:latin typeface="Canva Sans"/>
                <a:ea typeface="Canva Sans"/>
                <a:cs typeface="Canva Sans"/>
                <a:sym typeface="Canva Sans"/>
              </a:rPr>
              <a:t>Y. Sahaja- 247R1A05CJ</a:t>
            </a:r>
          </a:p>
          <a:p>
            <a:pPr>
              <a:lnSpc>
                <a:spcPts val="2999"/>
              </a:lnSpc>
            </a:pPr>
            <a:r>
              <a:rPr lang="en-US" sz="2143" spc="-105" dirty="0">
                <a:solidFill>
                  <a:srgbClr val="000000"/>
                </a:solidFill>
                <a:latin typeface="Canva Sans"/>
                <a:ea typeface="Canva Sans"/>
                <a:cs typeface="Canva Sans"/>
                <a:sym typeface="Canva Sans"/>
              </a:rPr>
              <a:t>C. William Immanuel Binny- 247R1A05Z8</a:t>
            </a:r>
          </a:p>
          <a:p>
            <a:pPr>
              <a:lnSpc>
                <a:spcPts val="2999"/>
              </a:lnSpc>
            </a:pPr>
            <a:r>
              <a:rPr lang="en-US" sz="2143" spc="-105" dirty="0">
                <a:solidFill>
                  <a:srgbClr val="000000"/>
                </a:solidFill>
                <a:latin typeface="Canva Sans"/>
                <a:ea typeface="Canva Sans"/>
                <a:cs typeface="Canva Sans"/>
                <a:sym typeface="Canva Sans"/>
              </a:rPr>
              <a:t>M. Dileep Kumar Reddy- 257R5A0536</a:t>
            </a:r>
          </a:p>
          <a:p>
            <a:pPr>
              <a:lnSpc>
                <a:spcPts val="2999"/>
              </a:lnSpc>
            </a:pPr>
            <a:endParaRPr lang="en-US" sz="2143" spc="-105" dirty="0">
              <a:solidFill>
                <a:srgbClr val="000000"/>
              </a:solidFill>
              <a:latin typeface="Canva Sans"/>
              <a:ea typeface="Canva Sans"/>
              <a:cs typeface="Canva Sans"/>
              <a:sym typeface="Canv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7FC4-14FB-114A-EB7D-F7A01DF44B38}"/>
              </a:ext>
            </a:extLst>
          </p:cNvPr>
          <p:cNvSpPr>
            <a:spLocks noGrp="1"/>
          </p:cNvSpPr>
          <p:nvPr>
            <p:ph type="title"/>
          </p:nvPr>
        </p:nvSpPr>
        <p:spPr>
          <a:xfrm>
            <a:off x="179438" y="189884"/>
            <a:ext cx="10515600" cy="491153"/>
          </a:xfrm>
        </p:spPr>
        <p:txBody>
          <a:bodyPr>
            <a:normAutofit/>
          </a:bodyPr>
          <a:lstStyle/>
          <a:p>
            <a:r>
              <a:rPr lang="en-IN" sz="2400" b="1" dirty="0">
                <a:latin typeface="Times New Roman" panose="02020603050405020304" pitchFamily="18" charset="0"/>
                <a:cs typeface="Times New Roman" panose="02020603050405020304" pitchFamily="18" charset="0"/>
              </a:rPr>
              <a:t>TABLE OF CONTENTS:</a:t>
            </a:r>
          </a:p>
        </p:txBody>
      </p:sp>
      <p:sp>
        <p:nvSpPr>
          <p:cNvPr id="5" name="TextBox 4">
            <a:extLst>
              <a:ext uri="{FF2B5EF4-FFF2-40B4-BE49-F238E27FC236}">
                <a16:creationId xmlns:a16="http://schemas.microsoft.com/office/drawing/2014/main" id="{FA37E3BB-5192-4396-8D65-DB9216F2DAB8}"/>
              </a:ext>
            </a:extLst>
          </p:cNvPr>
          <p:cNvSpPr txBox="1"/>
          <p:nvPr/>
        </p:nvSpPr>
        <p:spPr>
          <a:xfrm>
            <a:off x="920023" y="577680"/>
            <a:ext cx="5525166" cy="6904262"/>
          </a:xfrm>
          <a:prstGeom prst="rect">
            <a:avLst/>
          </a:prstGeom>
          <a:noFill/>
        </p:spPr>
        <p:txBody>
          <a:bodyPr wrap="square">
            <a:spAutoFit/>
          </a:bodyPr>
          <a:lstStyle/>
          <a:p>
            <a:pPr marL="690880" lvl="1" indent="-345440" algn="just">
              <a:lnSpc>
                <a:spcPts val="5440"/>
              </a:lnSpc>
              <a:buAutoNum type="arabicPeriod"/>
            </a:pPr>
            <a:r>
              <a:rPr lang="en-US" sz="2000" dirty="0">
                <a:solidFill>
                  <a:srgbClr val="000000"/>
                </a:solidFill>
                <a:latin typeface="Times New Roman" panose="02020603050405020304" pitchFamily="18" charset="0"/>
                <a:ea typeface="Canva Sans" panose="020B0503030501040103"/>
                <a:cs typeface="Times New Roman" panose="02020603050405020304" pitchFamily="18" charset="0"/>
                <a:sym typeface="Canva Sans" panose="020B0503030501040103"/>
              </a:rPr>
              <a:t>Introduction And Abstract</a:t>
            </a:r>
          </a:p>
          <a:p>
            <a:pPr marL="690880" lvl="1" indent="-345440" algn="just">
              <a:lnSpc>
                <a:spcPts val="5440"/>
              </a:lnSpc>
              <a:buAutoNum type="arabicPeriod"/>
            </a:pPr>
            <a:r>
              <a:rPr lang="en-US" sz="2000" dirty="0">
                <a:solidFill>
                  <a:srgbClr val="000000"/>
                </a:solidFill>
                <a:latin typeface="Times New Roman" panose="02020603050405020304" pitchFamily="18" charset="0"/>
                <a:ea typeface="Canva Sans" panose="020B0503030501040103"/>
                <a:cs typeface="Times New Roman" panose="02020603050405020304" pitchFamily="18" charset="0"/>
                <a:sym typeface="Canva Sans" panose="020B0503030501040103"/>
              </a:rPr>
              <a:t>Existing System And Disadvantages</a:t>
            </a:r>
          </a:p>
          <a:p>
            <a:pPr marL="690880" lvl="1" indent="-345440" algn="just">
              <a:lnSpc>
                <a:spcPts val="5440"/>
              </a:lnSpc>
              <a:buAutoNum type="arabicPeriod"/>
            </a:pPr>
            <a:r>
              <a:rPr lang="en-US" sz="2000" dirty="0">
                <a:solidFill>
                  <a:srgbClr val="000000"/>
                </a:solidFill>
                <a:latin typeface="Times New Roman" panose="02020603050405020304" pitchFamily="18" charset="0"/>
                <a:ea typeface="Canva Sans" panose="020B0503030501040103"/>
                <a:cs typeface="Times New Roman" panose="02020603050405020304" pitchFamily="18" charset="0"/>
                <a:sym typeface="Canva Sans" panose="020B0503030501040103"/>
              </a:rPr>
              <a:t>Proposed System And Advantages</a:t>
            </a:r>
          </a:p>
          <a:p>
            <a:pPr marL="690880" lvl="1" indent="-345440" algn="just">
              <a:lnSpc>
                <a:spcPts val="5440"/>
              </a:lnSpc>
              <a:buAutoNum type="arabicPeriod"/>
            </a:pPr>
            <a:r>
              <a:rPr lang="en-US" sz="2000" dirty="0">
                <a:solidFill>
                  <a:srgbClr val="000000"/>
                </a:solidFill>
                <a:latin typeface="Times New Roman" panose="02020603050405020304" pitchFamily="18" charset="0"/>
                <a:ea typeface="Canva Sans" panose="020B0503030501040103"/>
                <a:cs typeface="Times New Roman" panose="02020603050405020304" pitchFamily="18" charset="0"/>
                <a:sym typeface="Canva Sans" panose="020B0503030501040103"/>
              </a:rPr>
              <a:t>Hardware Requirements &amp;  Software Requirements</a:t>
            </a:r>
          </a:p>
          <a:p>
            <a:pPr marL="690880" lvl="1" indent="-345440" algn="just">
              <a:lnSpc>
                <a:spcPts val="5440"/>
              </a:lnSpc>
              <a:buAutoNum type="arabicPeriod"/>
            </a:pPr>
            <a:r>
              <a:rPr lang="en-US" sz="2000" dirty="0">
                <a:solidFill>
                  <a:srgbClr val="000000"/>
                </a:solidFill>
                <a:latin typeface="Times New Roman" panose="02020603050405020304" pitchFamily="18" charset="0"/>
                <a:ea typeface="Canva Sans" panose="020B0503030501040103"/>
                <a:cs typeface="Times New Roman" panose="02020603050405020304" pitchFamily="18" charset="0"/>
                <a:sym typeface="Canva Sans" panose="020B0503030501040103"/>
              </a:rPr>
              <a:t>System Architecture</a:t>
            </a:r>
          </a:p>
          <a:p>
            <a:pPr marL="690880" lvl="1" indent="-345440" algn="just">
              <a:lnSpc>
                <a:spcPts val="5440"/>
              </a:lnSpc>
              <a:buAutoNum type="arabicPeriod"/>
            </a:pPr>
            <a:r>
              <a:rPr lang="en-US" sz="2000" dirty="0">
                <a:solidFill>
                  <a:srgbClr val="000000"/>
                </a:solidFill>
                <a:latin typeface="Times New Roman" panose="02020603050405020304" pitchFamily="18" charset="0"/>
                <a:ea typeface="Canva Sans" panose="020B0503030501040103"/>
                <a:cs typeface="Times New Roman" panose="02020603050405020304" pitchFamily="18" charset="0"/>
                <a:sym typeface="Canva Sans" panose="020B0503030501040103"/>
              </a:rPr>
              <a:t>UML Diagrams</a:t>
            </a:r>
          </a:p>
          <a:p>
            <a:pPr marL="690880" lvl="1" indent="-345440" algn="just">
              <a:lnSpc>
                <a:spcPts val="5440"/>
              </a:lnSpc>
              <a:buAutoNum type="arabicPeriod"/>
            </a:pPr>
            <a:r>
              <a:rPr lang="en-US" sz="2000" dirty="0">
                <a:solidFill>
                  <a:srgbClr val="000000"/>
                </a:solidFill>
                <a:latin typeface="Times New Roman" panose="02020603050405020304" pitchFamily="18" charset="0"/>
                <a:ea typeface="Canva Sans" panose="020B0503030501040103"/>
                <a:cs typeface="Times New Roman" panose="02020603050405020304" pitchFamily="18" charset="0"/>
                <a:sym typeface="Canva Sans" panose="020B0503030501040103"/>
              </a:rPr>
              <a:t>UI Design</a:t>
            </a:r>
          </a:p>
          <a:p>
            <a:pPr marL="690880" lvl="1" indent="-345440" algn="just">
              <a:lnSpc>
                <a:spcPts val="5440"/>
              </a:lnSpc>
              <a:buAutoNum type="arabicPeriod"/>
            </a:pPr>
            <a:r>
              <a:rPr lang="en-US" sz="2000" dirty="0">
                <a:solidFill>
                  <a:srgbClr val="000000"/>
                </a:solidFill>
                <a:latin typeface="Times New Roman" panose="02020603050405020304" pitchFamily="18" charset="0"/>
                <a:ea typeface="Canva Sans" panose="020B0503030501040103"/>
                <a:cs typeface="Times New Roman" panose="02020603050405020304" pitchFamily="18" charset="0"/>
                <a:sym typeface="Canva Sans" panose="020B0503030501040103"/>
              </a:rPr>
              <a:t>Conclusion</a:t>
            </a:r>
          </a:p>
          <a:p>
            <a:pPr marL="690880" lvl="1" indent="-345440" algn="just">
              <a:lnSpc>
                <a:spcPts val="5440"/>
              </a:lnSpc>
              <a:buAutoNum type="arabicPeriod"/>
            </a:pPr>
            <a:r>
              <a:rPr lang="en-US" sz="2000" dirty="0">
                <a:solidFill>
                  <a:srgbClr val="000000"/>
                </a:solidFill>
                <a:latin typeface="Times New Roman" panose="02020603050405020304" pitchFamily="18" charset="0"/>
                <a:ea typeface="Canva Sans" panose="020B0503030501040103"/>
                <a:cs typeface="Times New Roman" panose="02020603050405020304" pitchFamily="18" charset="0"/>
                <a:sym typeface="Canva Sans" panose="020B0503030501040103"/>
              </a:rPr>
              <a:t>References</a:t>
            </a:r>
          </a:p>
        </p:txBody>
      </p:sp>
    </p:spTree>
    <p:extLst>
      <p:ext uri="{BB962C8B-B14F-4D97-AF65-F5344CB8AC3E}">
        <p14:creationId xmlns:p14="http://schemas.microsoft.com/office/powerpoint/2010/main" val="503639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A882F-E9C3-3EEA-BCF8-717380E825F5}"/>
              </a:ext>
            </a:extLst>
          </p:cNvPr>
          <p:cNvSpPr>
            <a:spLocks noGrp="1"/>
          </p:cNvSpPr>
          <p:nvPr>
            <p:ph type="title"/>
          </p:nvPr>
        </p:nvSpPr>
        <p:spPr>
          <a:xfrm>
            <a:off x="838200" y="365126"/>
            <a:ext cx="10515600" cy="921808"/>
          </a:xfrm>
        </p:spPr>
        <p:txBody>
          <a:bodyPr/>
          <a:lstStyle/>
          <a:p>
            <a:r>
              <a:rPr lang="en-IN" b="1" dirty="0">
                <a:latin typeface="Agency FB" panose="020B0503020202020204" pitchFamily="34" charset="0"/>
              </a:rPr>
              <a:t>INTRODUCTION:</a:t>
            </a:r>
          </a:p>
        </p:txBody>
      </p:sp>
      <p:sp>
        <p:nvSpPr>
          <p:cNvPr id="3" name="Content Placeholder 2">
            <a:extLst>
              <a:ext uri="{FF2B5EF4-FFF2-40B4-BE49-F238E27FC236}">
                <a16:creationId xmlns:a16="http://schemas.microsoft.com/office/drawing/2014/main" id="{602E9D7D-BA44-B20E-EC36-ABA879D904BF}"/>
              </a:ext>
            </a:extLst>
          </p:cNvPr>
          <p:cNvSpPr>
            <a:spLocks noGrp="1"/>
          </p:cNvSpPr>
          <p:nvPr>
            <p:ph idx="1"/>
          </p:nvPr>
        </p:nvSpPr>
        <p:spPr>
          <a:xfrm>
            <a:off x="838200" y="1453092"/>
            <a:ext cx="10388600" cy="4947708"/>
          </a:xfrm>
        </p:spPr>
        <p:txBody>
          <a:bodyPr>
            <a:normAutofit fontScale="92500" lnSpcReduction="10000"/>
          </a:bodyPr>
          <a:lstStyle/>
          <a:p>
            <a:r>
              <a:rPr lang="en-US" sz="2600" dirty="0">
                <a:latin typeface="Bell MT" panose="02020503060305020303" pitchFamily="18" charset="0"/>
              </a:rPr>
              <a:t>With the rapid growth of the internet, secure communication between users and websites has become very important. Sensitive information such as passwords, banking details, and personal data is transmitted over the internet every day. To protect this information from cyber threats, websites use security protocols like </a:t>
            </a:r>
            <a:r>
              <a:rPr lang="en-US" sz="2600" b="1" dirty="0">
                <a:latin typeface="Bell MT" panose="02020503060305020303" pitchFamily="18" charset="0"/>
              </a:rPr>
              <a:t>SSL (Secure Sockets Layer)</a:t>
            </a:r>
            <a:r>
              <a:rPr lang="en-US" sz="2600" dirty="0">
                <a:latin typeface="Bell MT" panose="02020503060305020303" pitchFamily="18" charset="0"/>
              </a:rPr>
              <a:t> and </a:t>
            </a:r>
            <a:r>
              <a:rPr lang="en-US" sz="2600" b="1" dirty="0">
                <a:latin typeface="Bell MT" panose="02020503060305020303" pitchFamily="18" charset="0"/>
              </a:rPr>
              <a:t>TLS (Transport Layer Security)</a:t>
            </a:r>
            <a:r>
              <a:rPr lang="en-US" sz="2600" dirty="0">
                <a:latin typeface="Bell MT" panose="02020503060305020303" pitchFamily="18" charset="0"/>
              </a:rPr>
              <a:t>.</a:t>
            </a:r>
          </a:p>
          <a:p>
            <a:r>
              <a:rPr lang="en-US" sz="2600" dirty="0">
                <a:latin typeface="Bell MT" panose="02020503060305020303" pitchFamily="18" charset="0"/>
              </a:rPr>
              <a:t>SSL/TLS certificates help establish an encrypted connection between the user’s browser and the web server. These certificates ensure that the website is authentic and that the data transmitted is secure.</a:t>
            </a:r>
          </a:p>
          <a:p>
            <a:r>
              <a:rPr lang="en-US" sz="2600" dirty="0">
                <a:latin typeface="Bell MT" panose="02020503060305020303" pitchFamily="18" charset="0"/>
              </a:rPr>
              <a:t>However, many users are unaware of how to check whether a website’s certificate is valid or expired. This project introduces an </a:t>
            </a:r>
            <a:r>
              <a:rPr lang="en-US" sz="2600" b="1" dirty="0">
                <a:latin typeface="Bell MT" panose="02020503060305020303" pitchFamily="18" charset="0"/>
              </a:rPr>
              <a:t>SSL/TLS Certificate Validation Viewer</a:t>
            </a:r>
            <a:r>
              <a:rPr lang="en-US" sz="2600" dirty="0">
                <a:latin typeface="Bell MT" panose="02020503060305020303" pitchFamily="18" charset="0"/>
              </a:rPr>
              <a:t>, which allows users to easily view and verify certificate details such as issuer information, validity period, and encryption algorithm.</a:t>
            </a:r>
          </a:p>
          <a:p>
            <a:r>
              <a:rPr lang="en-US" sz="2600" dirty="0">
                <a:latin typeface="Bell MT" panose="02020503060305020303" pitchFamily="18" charset="0"/>
              </a:rPr>
              <a:t>The system simplifies certificate verification and helps users understand the security level of a website before sharing sensitive information online.</a:t>
            </a:r>
          </a:p>
          <a:p>
            <a:endParaRPr lang="en-IN" dirty="0"/>
          </a:p>
        </p:txBody>
      </p:sp>
    </p:spTree>
    <p:extLst>
      <p:ext uri="{BB962C8B-B14F-4D97-AF65-F5344CB8AC3E}">
        <p14:creationId xmlns:p14="http://schemas.microsoft.com/office/powerpoint/2010/main" val="3041047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5AEB0-A15F-DAD0-76CB-B664F8AAA35D}"/>
              </a:ext>
            </a:extLst>
          </p:cNvPr>
          <p:cNvSpPr>
            <a:spLocks noGrp="1"/>
          </p:cNvSpPr>
          <p:nvPr>
            <p:ph type="title"/>
          </p:nvPr>
        </p:nvSpPr>
        <p:spPr>
          <a:xfrm>
            <a:off x="838200" y="365126"/>
            <a:ext cx="10515600" cy="833360"/>
          </a:xfrm>
        </p:spPr>
        <p:txBody>
          <a:bodyPr/>
          <a:lstStyle/>
          <a:p>
            <a:r>
              <a:rPr lang="en-IN" b="1" dirty="0">
                <a:latin typeface="Agency FB" panose="020B0503020202020204" pitchFamily="34" charset="0"/>
              </a:rPr>
              <a:t>ABSTRACT:</a:t>
            </a:r>
          </a:p>
        </p:txBody>
      </p:sp>
      <p:sp>
        <p:nvSpPr>
          <p:cNvPr id="3" name="Content Placeholder 2">
            <a:extLst>
              <a:ext uri="{FF2B5EF4-FFF2-40B4-BE49-F238E27FC236}">
                <a16:creationId xmlns:a16="http://schemas.microsoft.com/office/drawing/2014/main" id="{2FA7ED94-E4AC-6FD7-D8BB-5511A0E3C2F1}"/>
              </a:ext>
            </a:extLst>
          </p:cNvPr>
          <p:cNvSpPr>
            <a:spLocks noGrp="1"/>
          </p:cNvSpPr>
          <p:nvPr>
            <p:ph idx="1"/>
          </p:nvPr>
        </p:nvSpPr>
        <p:spPr>
          <a:xfrm>
            <a:off x="838199" y="1358283"/>
            <a:ext cx="10693893" cy="5379868"/>
          </a:xfrm>
        </p:spPr>
        <p:txBody>
          <a:bodyPr>
            <a:normAutofit fontScale="25000" lnSpcReduction="20000"/>
          </a:bodyPr>
          <a:lstStyle/>
          <a:p>
            <a:r>
              <a:rPr lang="en-US" sz="9600" dirty="0">
                <a:latin typeface="Bell MT" panose="02020503060305020303" pitchFamily="18" charset="0"/>
              </a:rPr>
              <a:t>SSL/TLS certificates play a crucial role in ensuring secure communication over the internet. They help encrypt data and verify the authenticity of websites. However, many users are unaware of whether a website’s SSL certificate is valid or secure.</a:t>
            </a:r>
          </a:p>
          <a:p>
            <a:r>
              <a:rPr lang="en-US" sz="9600" dirty="0">
                <a:latin typeface="Bell MT" panose="02020503060305020303" pitchFamily="18" charset="0"/>
              </a:rPr>
              <a:t>This project proposes an </a:t>
            </a:r>
            <a:r>
              <a:rPr lang="en-US" sz="9600" b="1" dirty="0">
                <a:latin typeface="Bell MT" panose="02020503060305020303" pitchFamily="18" charset="0"/>
              </a:rPr>
              <a:t>SSL/TLS Certificate Validation Viewer</a:t>
            </a:r>
            <a:r>
              <a:rPr lang="en-US" sz="9600" dirty="0">
                <a:latin typeface="Bell MT" panose="02020503060305020303" pitchFamily="18" charset="0"/>
              </a:rPr>
              <a:t>, which allows users to check the validity, issuer, expiration date, and encryption details of a website’s SSL certificate.</a:t>
            </a:r>
          </a:p>
          <a:p>
            <a:r>
              <a:rPr lang="en-US" sz="9600" dirty="0">
                <a:latin typeface="Bell MT" panose="02020503060305020303" pitchFamily="18" charset="0"/>
              </a:rPr>
              <a:t>The system retrieves certificate information from a given URL and displays security details in a simple user interface. It helps users understand whether a website connection is secure or potentially unsafe.</a:t>
            </a:r>
          </a:p>
          <a:p>
            <a:r>
              <a:rPr lang="en-US" sz="9600" b="1" dirty="0">
                <a:latin typeface="Bell MT" panose="02020503060305020303" pitchFamily="18" charset="0"/>
              </a:rPr>
              <a:t>A comprehensive SSL/TLS certificate validation and security assessment tool</a:t>
            </a:r>
            <a:endParaRPr lang="en-US" sz="9600" dirty="0">
              <a:latin typeface="Bell MT" panose="02020503060305020303" pitchFamily="18" charset="0"/>
            </a:endParaRPr>
          </a:p>
          <a:p>
            <a:pPr marL="0" indent="0">
              <a:buNone/>
            </a:pPr>
            <a:r>
              <a:rPr lang="en-US" sz="9600" dirty="0">
                <a:latin typeface="Bell MT" panose="02020503060305020303" pitchFamily="18" charset="0"/>
              </a:rPr>
              <a:t>    Real-time analysis of website security posture</a:t>
            </a:r>
          </a:p>
          <a:p>
            <a:pPr marL="0" indent="0">
              <a:buNone/>
            </a:pPr>
            <a:r>
              <a:rPr lang="en-US" sz="9600" dirty="0">
                <a:latin typeface="Bell MT" panose="02020503060305020303" pitchFamily="18" charset="0"/>
              </a:rPr>
              <a:t>    Multi-layered trust evaluation system</a:t>
            </a:r>
          </a:p>
          <a:p>
            <a:pPr marL="0" indent="0">
              <a:buNone/>
            </a:pPr>
            <a:r>
              <a:rPr lang="en-US" sz="9600" dirty="0">
                <a:latin typeface="Bell MT" panose="02020503060305020303" pitchFamily="18" charset="0"/>
              </a:rPr>
              <a:t>    User-friendly web interface for instant security reports</a:t>
            </a:r>
          </a:p>
          <a:p>
            <a:pPr marL="0" indent="0">
              <a:buNone/>
            </a:pPr>
            <a:br>
              <a:rPr lang="en-US" dirty="0"/>
            </a:br>
            <a:endParaRPr lang="en-US" dirty="0"/>
          </a:p>
          <a:p>
            <a:endParaRPr lang="en-US" dirty="0"/>
          </a:p>
          <a:p>
            <a:endParaRPr lang="en-IN" dirty="0"/>
          </a:p>
        </p:txBody>
      </p:sp>
    </p:spTree>
    <p:extLst>
      <p:ext uri="{BB962C8B-B14F-4D97-AF65-F5344CB8AC3E}">
        <p14:creationId xmlns:p14="http://schemas.microsoft.com/office/powerpoint/2010/main" val="2188593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91E45-F2B6-4D10-0517-8A435C07972B}"/>
              </a:ext>
            </a:extLst>
          </p:cNvPr>
          <p:cNvSpPr>
            <a:spLocks noGrp="1"/>
          </p:cNvSpPr>
          <p:nvPr>
            <p:ph type="title"/>
          </p:nvPr>
        </p:nvSpPr>
        <p:spPr>
          <a:xfrm>
            <a:off x="838200" y="365126"/>
            <a:ext cx="10515600" cy="760942"/>
          </a:xfrm>
        </p:spPr>
        <p:txBody>
          <a:bodyPr/>
          <a:lstStyle/>
          <a:p>
            <a:r>
              <a:rPr lang="en-IN" b="1" dirty="0">
                <a:latin typeface="Agency FB" panose="020B0503020202020204" pitchFamily="34" charset="0"/>
              </a:rPr>
              <a:t>EXISTING SYSTEM and DISADVANTAGES:</a:t>
            </a:r>
          </a:p>
        </p:txBody>
      </p:sp>
      <p:sp>
        <p:nvSpPr>
          <p:cNvPr id="3" name="Content Placeholder 2">
            <a:extLst>
              <a:ext uri="{FF2B5EF4-FFF2-40B4-BE49-F238E27FC236}">
                <a16:creationId xmlns:a16="http://schemas.microsoft.com/office/drawing/2014/main" id="{443D72A1-FD78-BDDF-DDCB-99EA12B61EA1}"/>
              </a:ext>
            </a:extLst>
          </p:cNvPr>
          <p:cNvSpPr>
            <a:spLocks noGrp="1"/>
          </p:cNvSpPr>
          <p:nvPr>
            <p:ph idx="1"/>
          </p:nvPr>
        </p:nvSpPr>
        <p:spPr>
          <a:xfrm>
            <a:off x="476436" y="1555751"/>
            <a:ext cx="5143130" cy="5302249"/>
          </a:xfrm>
        </p:spPr>
        <p:txBody>
          <a:bodyPr>
            <a:normAutofit fontScale="25000" lnSpcReduction="20000"/>
          </a:bodyPr>
          <a:lstStyle/>
          <a:p>
            <a:r>
              <a:rPr lang="en-IN" sz="11200" b="1" dirty="0">
                <a:latin typeface="Bell MT" panose="02020503060305020303" pitchFamily="18" charset="0"/>
              </a:rPr>
              <a:t>EXISTING SYSTEM</a:t>
            </a:r>
            <a:r>
              <a:rPr lang="en-IN" sz="11200" dirty="0">
                <a:latin typeface="Bell MT" panose="02020503060305020303" pitchFamily="18" charset="0"/>
              </a:rPr>
              <a:t>:</a:t>
            </a:r>
          </a:p>
          <a:p>
            <a:pPr marL="0" indent="0">
              <a:buNone/>
            </a:pPr>
            <a:br>
              <a:rPr lang="en-IN" sz="7400" dirty="0">
                <a:latin typeface="Bell MT" panose="02020503060305020303" pitchFamily="18" charset="0"/>
              </a:rPr>
            </a:br>
            <a:r>
              <a:rPr lang="en-IN" sz="8000" dirty="0">
                <a:latin typeface="Bell MT" panose="02020503060305020303" pitchFamily="18" charset="0"/>
              </a:rPr>
              <a:t>1. Online SSL Checkers</a:t>
            </a:r>
          </a:p>
          <a:p>
            <a:pPr marL="0" indent="0">
              <a:buNone/>
            </a:pPr>
            <a:r>
              <a:rPr lang="en-IN" sz="8000" dirty="0">
                <a:latin typeface="Bell MT" panose="02020503060305020303" pitchFamily="18" charset="0"/>
              </a:rPr>
              <a:t>2. Browser Built-in Indicators</a:t>
            </a:r>
          </a:p>
          <a:p>
            <a:pPr marL="0" indent="0">
              <a:buNone/>
            </a:pPr>
            <a:r>
              <a:rPr lang="en-IN" sz="8000" dirty="0">
                <a:latin typeface="Bell MT" panose="02020503060305020303" pitchFamily="18" charset="0"/>
              </a:rPr>
              <a:t>3. Command-line Tools</a:t>
            </a:r>
          </a:p>
          <a:p>
            <a:pPr marL="0" indent="0">
              <a:buNone/>
            </a:pPr>
            <a:r>
              <a:rPr lang="en-IN" sz="8000" dirty="0">
                <a:latin typeface="Bell MT" panose="02020503060305020303" pitchFamily="18" charset="0"/>
              </a:rPr>
              <a:t>4. Browser Extensions</a:t>
            </a:r>
          </a:p>
          <a:p>
            <a:pPr marL="0" indent="0">
              <a:buNone/>
            </a:pPr>
            <a:r>
              <a:rPr lang="en-IN" sz="8000" b="1" dirty="0">
                <a:latin typeface="Bell MT" panose="02020503060305020303" pitchFamily="18" charset="0"/>
              </a:rPr>
              <a:t>Characteristics of Existing Systems:</a:t>
            </a:r>
            <a:endParaRPr lang="en-IN" sz="8000" dirty="0">
              <a:latin typeface="Bell MT" panose="02020503060305020303" pitchFamily="18" charset="0"/>
            </a:endParaRPr>
          </a:p>
          <a:p>
            <a:r>
              <a:rPr lang="en-IN" sz="8000" dirty="0">
                <a:latin typeface="Bell MT" panose="02020503060305020303" pitchFamily="18" charset="0"/>
              </a:rPr>
              <a:t>Provide basic certificate information</a:t>
            </a:r>
          </a:p>
          <a:p>
            <a:r>
              <a:rPr lang="en-IN" sz="8000" dirty="0">
                <a:latin typeface="Bell MT" panose="02020503060305020303" pitchFamily="18" charset="0"/>
              </a:rPr>
              <a:t>Show expiry dates and issuer details</a:t>
            </a:r>
          </a:p>
          <a:p>
            <a:r>
              <a:rPr lang="en-IN" sz="8000" dirty="0">
                <a:latin typeface="Bell MT" panose="02020503060305020303" pitchFamily="18" charset="0"/>
              </a:rPr>
              <a:t>Grade SSL/TLS implementation</a:t>
            </a:r>
          </a:p>
          <a:p>
            <a:r>
              <a:rPr lang="en-IN" sz="8000" dirty="0">
                <a:latin typeface="Bell MT" panose="02020503060305020303" pitchFamily="18" charset="0"/>
              </a:rPr>
              <a:t>Often require technical expertise</a:t>
            </a:r>
          </a:p>
          <a:p>
            <a:r>
              <a:rPr lang="en-IN" sz="8000" dirty="0">
                <a:latin typeface="Bell MT" panose="02020503060305020303" pitchFamily="18" charset="0"/>
              </a:rPr>
              <a:t>Limited real-time revocation checking</a:t>
            </a:r>
          </a:p>
          <a:p>
            <a:r>
              <a:rPr lang="en-IN" sz="8000" dirty="0">
                <a:latin typeface="Bell MT" panose="02020503060305020303" pitchFamily="18" charset="0"/>
              </a:rPr>
              <a:t>Complex interfaces for non-technical users</a:t>
            </a:r>
          </a:p>
          <a:p>
            <a:r>
              <a:rPr lang="en-IN" sz="8000" dirty="0">
                <a:latin typeface="Bell MT" panose="02020503060305020303" pitchFamily="18" charset="0"/>
              </a:rPr>
              <a:t>Expensive enterprise-focused solutions</a:t>
            </a:r>
          </a:p>
          <a:p>
            <a:r>
              <a:rPr lang="en-IN" sz="8000" dirty="0">
                <a:latin typeface="Bell MT" panose="02020503060305020303" pitchFamily="18" charset="0"/>
              </a:rPr>
              <a:t> No unified trust score</a:t>
            </a:r>
          </a:p>
          <a:p>
            <a:pPr marL="0" indent="0">
              <a:buNone/>
            </a:pPr>
            <a:endParaRPr lang="en-IN" dirty="0"/>
          </a:p>
        </p:txBody>
      </p:sp>
      <p:sp>
        <p:nvSpPr>
          <p:cNvPr id="4" name="Content Placeholder 2">
            <a:extLst>
              <a:ext uri="{FF2B5EF4-FFF2-40B4-BE49-F238E27FC236}">
                <a16:creationId xmlns:a16="http://schemas.microsoft.com/office/drawing/2014/main" id="{EEA09AFE-BC2D-A16B-B838-81CECB2243B0}"/>
              </a:ext>
            </a:extLst>
          </p:cNvPr>
          <p:cNvSpPr txBox="1">
            <a:spLocks/>
          </p:cNvSpPr>
          <p:nvPr/>
        </p:nvSpPr>
        <p:spPr>
          <a:xfrm>
            <a:off x="6184777" y="1555113"/>
            <a:ext cx="4415161" cy="374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b="1" dirty="0">
                <a:latin typeface="Bell MT" panose="02020503060305020303" pitchFamily="18" charset="0"/>
              </a:rPr>
              <a:t>DISADVANTAGES</a:t>
            </a:r>
            <a:r>
              <a:rPr lang="en-IN" sz="3600" dirty="0">
                <a:latin typeface="Bell MT" panose="02020503060305020303" pitchFamily="18" charset="0"/>
              </a:rPr>
              <a:t>:</a:t>
            </a:r>
          </a:p>
          <a:p>
            <a:pPr marL="0" indent="0">
              <a:buNone/>
            </a:pPr>
            <a:r>
              <a:rPr lang="en-IN" sz="2400" dirty="0">
                <a:latin typeface="Bell MT" panose="02020503060305020303" pitchFamily="18" charset="0"/>
              </a:rPr>
              <a:t>1. Complexity</a:t>
            </a:r>
          </a:p>
          <a:p>
            <a:pPr marL="0" indent="0">
              <a:buNone/>
            </a:pPr>
            <a:r>
              <a:rPr lang="en-IN" sz="2400" dirty="0">
                <a:latin typeface="Bell MT" panose="02020503060305020303" pitchFamily="18" charset="0"/>
              </a:rPr>
              <a:t>2. Incomplete Information</a:t>
            </a:r>
          </a:p>
          <a:p>
            <a:pPr marL="0" indent="0">
              <a:buNone/>
            </a:pPr>
            <a:r>
              <a:rPr lang="en-IN" sz="2400" dirty="0">
                <a:latin typeface="Bell MT" panose="02020503060305020303" pitchFamily="18" charset="0"/>
              </a:rPr>
              <a:t>3. User Experience Issues</a:t>
            </a:r>
          </a:p>
          <a:p>
            <a:pPr marL="0" indent="0">
              <a:buNone/>
            </a:pPr>
            <a:r>
              <a:rPr lang="en-IN" sz="2400" dirty="0">
                <a:latin typeface="Bell MT" panose="02020503060305020303" pitchFamily="18" charset="0"/>
              </a:rPr>
              <a:t>4. Accessibility</a:t>
            </a:r>
          </a:p>
          <a:p>
            <a:pPr marL="0" indent="0">
              <a:buNone/>
            </a:pPr>
            <a:r>
              <a:rPr lang="en-IN" sz="2400" dirty="0">
                <a:latin typeface="Bell MT" panose="02020503060305020303" pitchFamily="18" charset="0"/>
              </a:rPr>
              <a:t>5. Real-time Validation</a:t>
            </a:r>
          </a:p>
          <a:p>
            <a:pPr marL="0" indent="0">
              <a:buNone/>
            </a:pPr>
            <a:r>
              <a:rPr lang="en-IN" sz="2400" dirty="0">
                <a:latin typeface="Bell MT" panose="02020503060305020303" pitchFamily="18" charset="0"/>
              </a:rPr>
              <a:t>6. Educational Gap</a:t>
            </a:r>
          </a:p>
          <a:p>
            <a:pPr marL="0" indent="0">
              <a:buFont typeface="Arial" panose="020B0604020202020204" pitchFamily="34" charset="0"/>
              <a:buNone/>
            </a:pPr>
            <a:endParaRPr lang="en-IN" sz="3600" dirty="0">
              <a:latin typeface="Bell MT" panose="02020503060305020303" pitchFamily="18" charset="0"/>
            </a:endParaRP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1455026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EF0FF-7177-9BBA-4E39-9161082BE914}"/>
              </a:ext>
            </a:extLst>
          </p:cNvPr>
          <p:cNvSpPr>
            <a:spLocks noGrp="1"/>
          </p:cNvSpPr>
          <p:nvPr>
            <p:ph type="title"/>
          </p:nvPr>
        </p:nvSpPr>
        <p:spPr>
          <a:xfrm>
            <a:off x="376562" y="124288"/>
            <a:ext cx="10515600" cy="727969"/>
          </a:xfrm>
        </p:spPr>
        <p:txBody>
          <a:bodyPr>
            <a:normAutofit/>
          </a:bodyPr>
          <a:lstStyle/>
          <a:p>
            <a:r>
              <a:rPr lang="en-IN" sz="4000" b="1" dirty="0">
                <a:latin typeface="Agency FB" panose="020B0503020202020204" pitchFamily="34" charset="0"/>
              </a:rPr>
              <a:t>PROPOSED SYSTEM</a:t>
            </a:r>
            <a:r>
              <a:rPr lang="en-IN" sz="4000" dirty="0"/>
              <a:t>:</a:t>
            </a:r>
          </a:p>
        </p:txBody>
      </p:sp>
      <p:sp>
        <p:nvSpPr>
          <p:cNvPr id="3" name="Content Placeholder 2">
            <a:extLst>
              <a:ext uri="{FF2B5EF4-FFF2-40B4-BE49-F238E27FC236}">
                <a16:creationId xmlns:a16="http://schemas.microsoft.com/office/drawing/2014/main" id="{7105BE73-275F-5CC4-EBA0-25C62ACA8517}"/>
              </a:ext>
            </a:extLst>
          </p:cNvPr>
          <p:cNvSpPr>
            <a:spLocks noGrp="1"/>
          </p:cNvSpPr>
          <p:nvPr>
            <p:ph idx="1"/>
          </p:nvPr>
        </p:nvSpPr>
        <p:spPr>
          <a:xfrm>
            <a:off x="447584" y="851410"/>
            <a:ext cx="9513163" cy="2275858"/>
          </a:xfrm>
        </p:spPr>
        <p:txBody>
          <a:bodyPr>
            <a:normAutofit fontScale="92500" lnSpcReduction="10000"/>
          </a:bodyPr>
          <a:lstStyle/>
          <a:p>
            <a:pPr marL="0" indent="0">
              <a:buNone/>
            </a:pPr>
            <a:r>
              <a:rPr lang="en-US" sz="2400" dirty="0">
                <a:latin typeface="Bell MT" panose="02020503060305020303" pitchFamily="18" charset="0"/>
              </a:rPr>
              <a:t>A unified, user-friendly SSL/TLS security scanner designed for both technical and non-technical users</a:t>
            </a:r>
          </a:p>
          <a:p>
            <a:pPr marL="0" indent="0">
              <a:buNone/>
            </a:pPr>
            <a:r>
              <a:rPr lang="en-IN" sz="2400" dirty="0">
                <a:latin typeface="Bell MT" panose="02020503060305020303" pitchFamily="18" charset="0"/>
              </a:rPr>
              <a:t>Simplify Security Assessment</a:t>
            </a:r>
          </a:p>
          <a:p>
            <a:pPr marL="0" indent="0">
              <a:buNone/>
            </a:pPr>
            <a:r>
              <a:rPr lang="en-IN" sz="2400" dirty="0">
                <a:latin typeface="Bell MT" panose="02020503060305020303" pitchFamily="18" charset="0"/>
              </a:rPr>
              <a:t>Comprehensive Analysis</a:t>
            </a:r>
          </a:p>
          <a:p>
            <a:pPr marL="0" indent="0">
              <a:buNone/>
            </a:pPr>
            <a:r>
              <a:rPr lang="en-IN" sz="2400" dirty="0">
                <a:latin typeface="Bell MT" panose="02020503060305020303" pitchFamily="18" charset="0"/>
              </a:rPr>
              <a:t>Educational Component</a:t>
            </a:r>
          </a:p>
          <a:p>
            <a:pPr marL="0" indent="0">
              <a:buNone/>
            </a:pPr>
            <a:r>
              <a:rPr lang="en-IN" sz="2400" dirty="0">
                <a:latin typeface="Bell MT" panose="02020503060305020303" pitchFamily="18" charset="0"/>
              </a:rPr>
              <a:t>Free and Accessible</a:t>
            </a:r>
          </a:p>
          <a:p>
            <a:pPr marL="0" indent="0">
              <a:buNone/>
            </a:pPr>
            <a:endParaRPr lang="en-IN" dirty="0"/>
          </a:p>
        </p:txBody>
      </p:sp>
      <p:sp>
        <p:nvSpPr>
          <p:cNvPr id="4" name="Title 1">
            <a:extLst>
              <a:ext uri="{FF2B5EF4-FFF2-40B4-BE49-F238E27FC236}">
                <a16:creationId xmlns:a16="http://schemas.microsoft.com/office/drawing/2014/main" id="{FC563545-0BC9-B9AB-1D09-96FD485C1606}"/>
              </a:ext>
            </a:extLst>
          </p:cNvPr>
          <p:cNvSpPr txBox="1">
            <a:spLocks/>
          </p:cNvSpPr>
          <p:nvPr/>
        </p:nvSpPr>
        <p:spPr>
          <a:xfrm>
            <a:off x="447584" y="3197441"/>
            <a:ext cx="10515600" cy="7279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latin typeface="Agency FB" panose="020B0503020202020204" pitchFamily="34" charset="0"/>
              </a:rPr>
              <a:t>ADVANTAGES</a:t>
            </a:r>
            <a:r>
              <a:rPr lang="en-IN" sz="4000" dirty="0"/>
              <a:t>:</a:t>
            </a:r>
          </a:p>
        </p:txBody>
      </p:sp>
      <p:sp>
        <p:nvSpPr>
          <p:cNvPr id="5" name="Content Placeholder 2">
            <a:extLst>
              <a:ext uri="{FF2B5EF4-FFF2-40B4-BE49-F238E27FC236}">
                <a16:creationId xmlns:a16="http://schemas.microsoft.com/office/drawing/2014/main" id="{1942B473-4DE3-0148-D247-28A6963D38BB}"/>
              </a:ext>
            </a:extLst>
          </p:cNvPr>
          <p:cNvSpPr txBox="1">
            <a:spLocks/>
          </p:cNvSpPr>
          <p:nvPr/>
        </p:nvSpPr>
        <p:spPr>
          <a:xfrm>
            <a:off x="608862" y="3994736"/>
            <a:ext cx="9513163" cy="22758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N" dirty="0"/>
          </a:p>
        </p:txBody>
      </p:sp>
      <p:sp>
        <p:nvSpPr>
          <p:cNvPr id="6" name="TextBox 5">
            <a:extLst>
              <a:ext uri="{FF2B5EF4-FFF2-40B4-BE49-F238E27FC236}">
                <a16:creationId xmlns:a16="http://schemas.microsoft.com/office/drawing/2014/main" id="{FEF01A9C-1A6C-33A3-AF1D-F8415C3603CA}"/>
              </a:ext>
            </a:extLst>
          </p:cNvPr>
          <p:cNvSpPr txBox="1"/>
          <p:nvPr/>
        </p:nvSpPr>
        <p:spPr>
          <a:xfrm>
            <a:off x="452764" y="3903345"/>
            <a:ext cx="6937157" cy="2954655"/>
          </a:xfrm>
          <a:prstGeom prst="rect">
            <a:avLst/>
          </a:prstGeom>
          <a:noFill/>
        </p:spPr>
        <p:txBody>
          <a:bodyPr wrap="square" rtlCol="0">
            <a:spAutoFit/>
          </a:bodyPr>
          <a:lstStyle/>
          <a:p>
            <a:r>
              <a:rPr lang="en-IN" sz="2400" dirty="0">
                <a:latin typeface="Bell MT" panose="02020503060305020303" pitchFamily="18" charset="0"/>
              </a:rPr>
              <a:t>1. User-Friendly</a:t>
            </a:r>
          </a:p>
          <a:p>
            <a:r>
              <a:rPr lang="en-IN" sz="2400" dirty="0">
                <a:latin typeface="Bell MT" panose="02020503060305020303" pitchFamily="18" charset="0"/>
              </a:rPr>
              <a:t>2. Comprehensive Security</a:t>
            </a:r>
          </a:p>
          <a:p>
            <a:r>
              <a:rPr lang="en-IN" sz="2400" dirty="0">
                <a:latin typeface="Bell MT" panose="02020503060305020303" pitchFamily="18" charset="0"/>
              </a:rPr>
              <a:t>3. Educational Value</a:t>
            </a:r>
          </a:p>
          <a:p>
            <a:r>
              <a:rPr lang="en-IN" sz="2400" dirty="0">
                <a:latin typeface="Bell MT" panose="02020503060305020303" pitchFamily="18" charset="0"/>
              </a:rPr>
              <a:t>4. Performance</a:t>
            </a:r>
          </a:p>
          <a:p>
            <a:r>
              <a:rPr lang="en-IN" sz="2400" dirty="0">
                <a:latin typeface="Bell MT" panose="02020503060305020303" pitchFamily="18" charset="0"/>
              </a:rPr>
              <a:t>5. Cost-Effective</a:t>
            </a:r>
          </a:p>
          <a:p>
            <a:r>
              <a:rPr lang="en-IN" sz="2400" dirty="0">
                <a:latin typeface="Bell MT" panose="02020503060305020303" pitchFamily="18" charset="0"/>
              </a:rPr>
              <a:t>6. Trustworthy</a:t>
            </a:r>
          </a:p>
          <a:p>
            <a:r>
              <a:rPr lang="en-IN" sz="2400" dirty="0">
                <a:latin typeface="Bell MT" panose="02020503060305020303" pitchFamily="18" charset="0"/>
              </a:rPr>
              <a:t>7. Actionable Insights</a:t>
            </a:r>
          </a:p>
          <a:p>
            <a:endParaRPr lang="en-IN" dirty="0"/>
          </a:p>
        </p:txBody>
      </p:sp>
    </p:spTree>
    <p:extLst>
      <p:ext uri="{BB962C8B-B14F-4D97-AF65-F5344CB8AC3E}">
        <p14:creationId xmlns:p14="http://schemas.microsoft.com/office/powerpoint/2010/main" val="2701178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7A5DC-9B92-A1E0-0B48-FF9D7434EC99}"/>
              </a:ext>
            </a:extLst>
          </p:cNvPr>
          <p:cNvSpPr>
            <a:spLocks noGrp="1"/>
          </p:cNvSpPr>
          <p:nvPr>
            <p:ph type="title"/>
          </p:nvPr>
        </p:nvSpPr>
        <p:spPr>
          <a:xfrm>
            <a:off x="740546" y="681037"/>
            <a:ext cx="10515600" cy="753461"/>
          </a:xfrm>
        </p:spPr>
        <p:txBody>
          <a:bodyPr>
            <a:normAutofit fontScale="90000"/>
          </a:bodyPr>
          <a:lstStyle/>
          <a:p>
            <a:r>
              <a:rPr lang="en-IN" b="1" dirty="0">
                <a:latin typeface="Agency FB" panose="020B0503020202020204" pitchFamily="34" charset="0"/>
              </a:rPr>
              <a:t>HARDWARE AND SOFTWARE REQUIREMENTS:</a:t>
            </a:r>
            <a:br>
              <a:rPr lang="en-IN" dirty="0">
                <a:latin typeface="Agency FB" panose="020B0503020202020204" pitchFamily="34" charset="0"/>
              </a:rPr>
            </a:br>
            <a:endParaRPr lang="en-IN" dirty="0">
              <a:latin typeface="Agency FB" panose="020B0503020202020204" pitchFamily="34" charset="0"/>
            </a:endParaRPr>
          </a:p>
        </p:txBody>
      </p:sp>
      <p:sp>
        <p:nvSpPr>
          <p:cNvPr id="3" name="Content Placeholder 2">
            <a:extLst>
              <a:ext uri="{FF2B5EF4-FFF2-40B4-BE49-F238E27FC236}">
                <a16:creationId xmlns:a16="http://schemas.microsoft.com/office/drawing/2014/main" id="{2764D420-9A55-605A-EB26-EBA5A82A8B20}"/>
              </a:ext>
            </a:extLst>
          </p:cNvPr>
          <p:cNvSpPr>
            <a:spLocks noGrp="1"/>
          </p:cNvSpPr>
          <p:nvPr>
            <p:ph idx="1"/>
          </p:nvPr>
        </p:nvSpPr>
        <p:spPr>
          <a:xfrm>
            <a:off x="838200" y="1825624"/>
            <a:ext cx="5257800" cy="4619563"/>
          </a:xfrm>
        </p:spPr>
        <p:txBody>
          <a:bodyPr>
            <a:normAutofit fontScale="55000" lnSpcReduction="20000"/>
          </a:bodyPr>
          <a:lstStyle/>
          <a:p>
            <a:pPr marL="0" indent="0">
              <a:buNone/>
            </a:pPr>
            <a:r>
              <a:rPr lang="en-IN" sz="3800" b="1" dirty="0">
                <a:latin typeface="Bell MT" panose="02020503060305020303" pitchFamily="18" charset="0"/>
              </a:rPr>
              <a:t>HARDWARE REQUIREMENTS:</a:t>
            </a:r>
            <a:endParaRPr lang="en-IN" sz="3800" dirty="0">
              <a:latin typeface="Bell MT" panose="02020503060305020303" pitchFamily="18" charset="0"/>
            </a:endParaRPr>
          </a:p>
          <a:p>
            <a:r>
              <a:rPr lang="en-IN" sz="3800" b="1" dirty="0">
                <a:latin typeface="Bell MT" panose="02020503060305020303" pitchFamily="18" charset="0"/>
              </a:rPr>
              <a:t>Server Side:</a:t>
            </a:r>
            <a:endParaRPr lang="en-IN" sz="3800" dirty="0">
              <a:latin typeface="Bell MT" panose="02020503060305020303" pitchFamily="18" charset="0"/>
            </a:endParaRPr>
          </a:p>
          <a:p>
            <a:pPr marL="0" indent="0">
              <a:buNone/>
            </a:pPr>
            <a:r>
              <a:rPr lang="en-IN" sz="3800" dirty="0">
                <a:latin typeface="Bell MT" panose="02020503060305020303" pitchFamily="18" charset="0"/>
              </a:rPr>
              <a:t>Processor: Dual-core 2.0 GHz or higher</a:t>
            </a:r>
          </a:p>
          <a:p>
            <a:pPr marL="0" indent="0">
              <a:buNone/>
            </a:pPr>
            <a:r>
              <a:rPr lang="en-IN" sz="3800" dirty="0">
                <a:latin typeface="Bell MT" panose="02020503060305020303" pitchFamily="18" charset="0"/>
              </a:rPr>
              <a:t>RAM: 2 GB minimum (4 GB recommended)</a:t>
            </a:r>
          </a:p>
          <a:p>
            <a:pPr marL="0" indent="0">
              <a:buNone/>
            </a:pPr>
            <a:r>
              <a:rPr lang="en-IN" sz="3800" dirty="0">
                <a:latin typeface="Bell MT" panose="02020503060305020303" pitchFamily="18" charset="0"/>
              </a:rPr>
              <a:t>Storage: 500 MB for application + logs</a:t>
            </a:r>
          </a:p>
          <a:p>
            <a:pPr marL="0" indent="0">
              <a:buNone/>
            </a:pPr>
            <a:r>
              <a:rPr lang="en-IN" sz="3800" dirty="0">
                <a:latin typeface="Bell MT" panose="02020503060305020303" pitchFamily="18" charset="0"/>
              </a:rPr>
              <a:t>Network: Broadband internet connection</a:t>
            </a:r>
          </a:p>
          <a:p>
            <a:pPr marL="0" indent="0">
              <a:buNone/>
            </a:pPr>
            <a:r>
              <a:rPr lang="en-IN" sz="3800" dirty="0">
                <a:latin typeface="Bell MT" panose="02020503060305020303" pitchFamily="18" charset="0"/>
              </a:rPr>
              <a:t>Port: 443 (HTTPS) or 5000 (development)</a:t>
            </a:r>
            <a:br>
              <a:rPr lang="en-IN" sz="3800" dirty="0">
                <a:latin typeface="Bell MT" panose="02020503060305020303" pitchFamily="18" charset="0"/>
              </a:rPr>
            </a:br>
            <a:endParaRPr lang="en-IN" sz="3800" dirty="0">
              <a:latin typeface="Bell MT" panose="02020503060305020303" pitchFamily="18" charset="0"/>
            </a:endParaRPr>
          </a:p>
          <a:p>
            <a:r>
              <a:rPr lang="en-IN" sz="3800" b="1" dirty="0">
                <a:latin typeface="Bell MT" panose="02020503060305020303" pitchFamily="18" charset="0"/>
              </a:rPr>
              <a:t>Client Side:</a:t>
            </a:r>
            <a:endParaRPr lang="en-IN" sz="3800" dirty="0">
              <a:latin typeface="Bell MT" panose="02020503060305020303" pitchFamily="18" charset="0"/>
            </a:endParaRPr>
          </a:p>
          <a:p>
            <a:pPr marL="0" indent="0">
              <a:buNone/>
            </a:pPr>
            <a:r>
              <a:rPr lang="en-IN" sz="3800" dirty="0">
                <a:latin typeface="Bell MT" panose="02020503060305020303" pitchFamily="18" charset="0"/>
              </a:rPr>
              <a:t>Any device with modern web browser</a:t>
            </a:r>
          </a:p>
          <a:p>
            <a:pPr marL="0" indent="0">
              <a:buNone/>
            </a:pPr>
            <a:r>
              <a:rPr lang="en-IN" sz="3800" dirty="0">
                <a:latin typeface="Bell MT" panose="02020503060305020303" pitchFamily="18" charset="0"/>
              </a:rPr>
              <a:t>Internet connection</a:t>
            </a:r>
          </a:p>
          <a:p>
            <a:pPr marL="0" indent="0">
              <a:buNone/>
            </a:pPr>
            <a:r>
              <a:rPr lang="en-IN" sz="3800" dirty="0">
                <a:latin typeface="Bell MT" panose="02020503060305020303" pitchFamily="18" charset="0"/>
              </a:rPr>
              <a:t>No special hardware requirements</a:t>
            </a:r>
          </a:p>
          <a:p>
            <a:pPr marL="0" indent="0">
              <a:buNone/>
            </a:pPr>
            <a:br>
              <a:rPr lang="en-IN" dirty="0"/>
            </a:br>
            <a:endParaRPr lang="en-IN" dirty="0"/>
          </a:p>
          <a:p>
            <a:endParaRPr lang="en-IN" dirty="0"/>
          </a:p>
        </p:txBody>
      </p:sp>
      <p:sp>
        <p:nvSpPr>
          <p:cNvPr id="5" name="TextBox 4">
            <a:extLst>
              <a:ext uri="{FF2B5EF4-FFF2-40B4-BE49-F238E27FC236}">
                <a16:creationId xmlns:a16="http://schemas.microsoft.com/office/drawing/2014/main" id="{AF8B5370-741B-C2AD-06AC-B6491F2E1296}"/>
              </a:ext>
            </a:extLst>
          </p:cNvPr>
          <p:cNvSpPr txBox="1"/>
          <p:nvPr/>
        </p:nvSpPr>
        <p:spPr>
          <a:xfrm>
            <a:off x="6229164" y="1723491"/>
            <a:ext cx="4898572" cy="5570756"/>
          </a:xfrm>
          <a:prstGeom prst="rect">
            <a:avLst/>
          </a:prstGeom>
          <a:noFill/>
        </p:spPr>
        <p:txBody>
          <a:bodyPr wrap="square">
            <a:spAutoFit/>
          </a:bodyPr>
          <a:lstStyle/>
          <a:p>
            <a:r>
              <a:rPr lang="en-IN" sz="2000" b="1" dirty="0">
                <a:latin typeface="Bell MT" panose="02020503060305020303" pitchFamily="18" charset="0"/>
              </a:rPr>
              <a:t>SOFTWARE REQUIREMENTS:</a:t>
            </a:r>
          </a:p>
          <a:p>
            <a:r>
              <a:rPr lang="en-IN" sz="2000" b="1" dirty="0">
                <a:latin typeface="Bell MT" panose="02020503060305020303" pitchFamily="18" charset="0"/>
              </a:rPr>
              <a:t>Backend:</a:t>
            </a:r>
          </a:p>
          <a:p>
            <a:r>
              <a:rPr lang="en-IN" sz="2000" dirty="0">
                <a:latin typeface="Bell MT" panose="02020503060305020303" pitchFamily="18" charset="0"/>
              </a:rPr>
              <a:t>-Python, Flask, Cryptography, Requests library, socket.</a:t>
            </a:r>
          </a:p>
          <a:p>
            <a:r>
              <a:rPr lang="en-IN" sz="2000" b="1" dirty="0">
                <a:latin typeface="Bell MT" panose="02020503060305020303" pitchFamily="18" charset="0"/>
              </a:rPr>
              <a:t>Frontend:</a:t>
            </a:r>
          </a:p>
          <a:p>
            <a:r>
              <a:rPr lang="en-IN" sz="2000" dirty="0">
                <a:latin typeface="Bell MT" panose="02020503060305020303" pitchFamily="18" charset="0"/>
              </a:rPr>
              <a:t>-HTML5,CSS3,Javascript</a:t>
            </a:r>
          </a:p>
          <a:p>
            <a:r>
              <a:rPr lang="en-IN" sz="2000" b="1" dirty="0">
                <a:latin typeface="Bell MT" panose="02020503060305020303" pitchFamily="18" charset="0"/>
              </a:rPr>
              <a:t>Development Environment:</a:t>
            </a:r>
          </a:p>
          <a:p>
            <a:r>
              <a:rPr lang="en-IN" sz="2000" dirty="0">
                <a:latin typeface="Bell MT" panose="02020503060305020303" pitchFamily="18" charset="0"/>
              </a:rPr>
              <a:t>Code Editor: VS Code / PyCharm</a:t>
            </a:r>
          </a:p>
          <a:p>
            <a:r>
              <a:rPr lang="en-IN" sz="2000" dirty="0">
                <a:latin typeface="Bell MT" panose="02020503060305020303" pitchFamily="18" charset="0"/>
              </a:rPr>
              <a:t>- Version Control: Git</a:t>
            </a:r>
          </a:p>
          <a:p>
            <a:r>
              <a:rPr lang="en-IN" sz="2000" dirty="0">
                <a:latin typeface="Bell MT" panose="02020503060305020303" pitchFamily="18" charset="0"/>
              </a:rPr>
              <a:t>- Testing: Postman, Browser </a:t>
            </a:r>
            <a:r>
              <a:rPr lang="en-IN" sz="2000" dirty="0" err="1">
                <a:latin typeface="Bell MT" panose="02020503060305020303" pitchFamily="18" charset="0"/>
              </a:rPr>
              <a:t>DevTools</a:t>
            </a:r>
            <a:endParaRPr lang="en-IN" sz="2000" dirty="0">
              <a:latin typeface="Bell MT" panose="02020503060305020303" pitchFamily="18" charset="0"/>
            </a:endParaRPr>
          </a:p>
          <a:p>
            <a:r>
              <a:rPr lang="en-IN" sz="2000" dirty="0">
                <a:latin typeface="Bell MT" panose="02020503060305020303" pitchFamily="18" charset="0"/>
              </a:rPr>
              <a:t>- OS: Windows/Linux/MacOS</a:t>
            </a:r>
          </a:p>
          <a:p>
            <a:r>
              <a:rPr lang="en-IN" sz="2000" b="1" dirty="0">
                <a:latin typeface="Bell MT" panose="02020503060305020303" pitchFamily="18" charset="0"/>
              </a:rPr>
              <a:t>Deployment:</a:t>
            </a:r>
          </a:p>
          <a:p>
            <a:r>
              <a:rPr lang="en-IN" sz="2000" dirty="0">
                <a:latin typeface="Bell MT" panose="02020503060305020303" pitchFamily="18" charset="0"/>
              </a:rPr>
              <a:t>Web Server: </a:t>
            </a:r>
            <a:r>
              <a:rPr lang="en-IN" sz="2000" dirty="0" err="1">
                <a:latin typeface="Bell MT" panose="02020503060305020303" pitchFamily="18" charset="0"/>
              </a:rPr>
              <a:t>Gunicorn</a:t>
            </a:r>
            <a:r>
              <a:rPr lang="en-IN" sz="2000" dirty="0">
                <a:latin typeface="Bell MT" panose="02020503060305020303" pitchFamily="18" charset="0"/>
              </a:rPr>
              <a:t> or </a:t>
            </a:r>
            <a:r>
              <a:rPr lang="en-IN" sz="2000" dirty="0" err="1">
                <a:latin typeface="Bell MT" panose="02020503060305020303" pitchFamily="18" charset="0"/>
              </a:rPr>
              <a:t>uWSGI</a:t>
            </a:r>
            <a:endParaRPr lang="en-IN" sz="2000" dirty="0">
              <a:latin typeface="Bell MT" panose="02020503060305020303" pitchFamily="18" charset="0"/>
            </a:endParaRPr>
          </a:p>
          <a:p>
            <a:r>
              <a:rPr lang="en-IN" sz="2000" dirty="0">
                <a:latin typeface="Bell MT" panose="02020503060305020303" pitchFamily="18" charset="0"/>
              </a:rPr>
              <a:t>- Reverse Proxy: Nginx (optional)</a:t>
            </a:r>
          </a:p>
          <a:p>
            <a:r>
              <a:rPr lang="en-IN" sz="2000" dirty="0">
                <a:latin typeface="Bell MT" panose="02020503060305020303" pitchFamily="18" charset="0"/>
              </a:rPr>
              <a:t>- SSL Certificate: Let's Encrypt</a:t>
            </a:r>
          </a:p>
          <a:p>
            <a:r>
              <a:rPr lang="en-IN" sz="2000" dirty="0">
                <a:latin typeface="Bell MT" panose="02020503060305020303" pitchFamily="18" charset="0"/>
              </a:rPr>
              <a:t>- Platform: Heroku/AWS/Digital Ocean</a:t>
            </a:r>
          </a:p>
          <a:p>
            <a:endParaRPr lang="en-IN" dirty="0"/>
          </a:p>
          <a:p>
            <a:endParaRPr lang="en-IN" dirty="0"/>
          </a:p>
        </p:txBody>
      </p:sp>
    </p:spTree>
    <p:extLst>
      <p:ext uri="{BB962C8B-B14F-4D97-AF65-F5344CB8AC3E}">
        <p14:creationId xmlns:p14="http://schemas.microsoft.com/office/powerpoint/2010/main" val="789913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65E20-ED03-34CE-0AFF-AA239EE08571}"/>
              </a:ext>
            </a:extLst>
          </p:cNvPr>
          <p:cNvSpPr>
            <a:spLocks noGrp="1"/>
          </p:cNvSpPr>
          <p:nvPr>
            <p:ph type="title"/>
          </p:nvPr>
        </p:nvSpPr>
        <p:spPr>
          <a:xfrm>
            <a:off x="234518" y="228846"/>
            <a:ext cx="10515600" cy="904382"/>
          </a:xfrm>
        </p:spPr>
        <p:txBody>
          <a:bodyPr/>
          <a:lstStyle/>
          <a:p>
            <a:r>
              <a:rPr lang="en-IN" b="1" dirty="0">
                <a:latin typeface="Agency FB" panose="020B0503020202020204" pitchFamily="34" charset="0"/>
              </a:rPr>
              <a:t>NOVELTY OF THE PROJECT:</a:t>
            </a:r>
          </a:p>
        </p:txBody>
      </p:sp>
      <p:sp>
        <p:nvSpPr>
          <p:cNvPr id="3" name="Content Placeholder 2">
            <a:extLst>
              <a:ext uri="{FF2B5EF4-FFF2-40B4-BE49-F238E27FC236}">
                <a16:creationId xmlns:a16="http://schemas.microsoft.com/office/drawing/2014/main" id="{D455894B-8F05-8E27-B7FB-394D61E931CA}"/>
              </a:ext>
            </a:extLst>
          </p:cNvPr>
          <p:cNvSpPr>
            <a:spLocks noGrp="1"/>
          </p:cNvSpPr>
          <p:nvPr>
            <p:ph idx="1"/>
          </p:nvPr>
        </p:nvSpPr>
        <p:spPr>
          <a:xfrm>
            <a:off x="234518" y="1133228"/>
            <a:ext cx="10515600" cy="5640434"/>
          </a:xfrm>
        </p:spPr>
        <p:txBody>
          <a:bodyPr>
            <a:normAutofit fontScale="77500" lnSpcReduction="20000"/>
          </a:bodyPr>
          <a:lstStyle/>
          <a:p>
            <a:pPr marL="0" indent="0">
              <a:buNone/>
            </a:pPr>
            <a:r>
              <a:rPr lang="en-IN" b="1" dirty="0">
                <a:latin typeface="Bell MT" panose="02020503060305020303" pitchFamily="18" charset="0"/>
              </a:rPr>
              <a:t>1. Integrated Multi-Factor Trust Evaluation:</a:t>
            </a:r>
            <a:endParaRPr lang="en-IN" dirty="0">
              <a:latin typeface="Bell MT" panose="02020503060305020303" pitchFamily="18" charset="0"/>
            </a:endParaRPr>
          </a:p>
          <a:p>
            <a:pPr marL="0" indent="0">
              <a:buNone/>
            </a:pPr>
            <a:r>
              <a:rPr lang="en-IN" dirty="0">
                <a:latin typeface="Bell MT" panose="02020503060305020303" pitchFamily="18" charset="0"/>
              </a:rPr>
              <a:t>- First free tool combining ALL checks:</a:t>
            </a:r>
          </a:p>
          <a:p>
            <a:pPr marL="0" indent="0">
              <a:buNone/>
            </a:pPr>
            <a:r>
              <a:rPr lang="en-IN" dirty="0">
                <a:latin typeface="Bell MT" panose="02020503060305020303" pitchFamily="18" charset="0"/>
              </a:rPr>
              <a:t> Certificate validity + Chain validation + Revocation status</a:t>
            </a:r>
          </a:p>
          <a:p>
            <a:pPr marL="0" indent="0">
              <a:buNone/>
            </a:pPr>
            <a:r>
              <a:rPr lang="en-IN" dirty="0">
                <a:latin typeface="Bell MT" panose="02020503060305020303" pitchFamily="18" charset="0"/>
              </a:rPr>
              <a:t> TLS protocols + Cipher strength + CT logs</a:t>
            </a:r>
          </a:p>
          <a:p>
            <a:pPr marL="0" indent="0">
              <a:buNone/>
            </a:pPr>
            <a:r>
              <a:rPr lang="en-IN" dirty="0">
                <a:latin typeface="Bell MT" panose="02020503060305020303" pitchFamily="18" charset="0"/>
              </a:rPr>
              <a:t> Single unified trust score</a:t>
            </a:r>
          </a:p>
          <a:p>
            <a:pPr marL="0" indent="0">
              <a:buNone/>
            </a:pPr>
            <a:r>
              <a:rPr lang="en-IN" b="1" dirty="0">
                <a:latin typeface="Bell MT" panose="02020503060305020303" pitchFamily="18" charset="0"/>
              </a:rPr>
              <a:t>2. Real-Time OCSP/CRL Checking:</a:t>
            </a:r>
            <a:endParaRPr lang="en-IN" dirty="0">
              <a:latin typeface="Bell MT" panose="02020503060305020303" pitchFamily="18" charset="0"/>
            </a:endParaRPr>
          </a:p>
          <a:p>
            <a:pPr marL="0" indent="0">
              <a:buNone/>
            </a:pPr>
            <a:r>
              <a:rPr lang="en-IN" dirty="0">
                <a:latin typeface="Bell MT" panose="02020503060305020303" pitchFamily="18" charset="0"/>
              </a:rPr>
              <a:t>Most free tools skip revocation checking</a:t>
            </a:r>
          </a:p>
          <a:p>
            <a:pPr marL="0" indent="0">
              <a:buNone/>
            </a:pPr>
            <a:r>
              <a:rPr lang="en-IN" dirty="0">
                <a:latin typeface="Bell MT" panose="02020503060305020303" pitchFamily="18" charset="0"/>
              </a:rPr>
              <a:t>We query OCSP responders directly</a:t>
            </a:r>
          </a:p>
          <a:p>
            <a:pPr marL="0" indent="0">
              <a:buNone/>
            </a:pPr>
            <a:r>
              <a:rPr lang="en-IN" dirty="0">
                <a:latin typeface="Bell MT" panose="02020503060305020303" pitchFamily="18" charset="0"/>
              </a:rPr>
              <a:t>Download and parse CRLs</a:t>
            </a:r>
          </a:p>
          <a:p>
            <a:pPr marL="0" indent="0">
              <a:buNone/>
            </a:pPr>
            <a:r>
              <a:rPr lang="en-IN" dirty="0">
                <a:latin typeface="Bell MT" panose="02020503060305020303" pitchFamily="18" charset="0"/>
              </a:rPr>
              <a:t>Immediate revocation detection</a:t>
            </a:r>
          </a:p>
          <a:p>
            <a:pPr marL="0" indent="0">
              <a:buNone/>
            </a:pPr>
            <a:r>
              <a:rPr lang="en-IN" b="1" dirty="0">
                <a:latin typeface="Bell MT" panose="02020503060305020303" pitchFamily="18" charset="0"/>
              </a:rPr>
              <a:t>3. Educational Focus:</a:t>
            </a:r>
            <a:endParaRPr lang="en-IN" dirty="0">
              <a:latin typeface="Bell MT" panose="02020503060305020303" pitchFamily="18" charset="0"/>
            </a:endParaRPr>
          </a:p>
          <a:p>
            <a:pPr marL="0" indent="0">
              <a:buNone/>
            </a:pPr>
            <a:r>
              <a:rPr lang="en-IN" dirty="0">
                <a:latin typeface="Bell MT" panose="02020503060305020303" pitchFamily="18" charset="0"/>
              </a:rPr>
              <a:t>Not just a scanner - a learning tool</a:t>
            </a:r>
          </a:p>
          <a:p>
            <a:pPr marL="0" indent="0">
              <a:buNone/>
            </a:pPr>
            <a:r>
              <a:rPr lang="en-IN" dirty="0">
                <a:latin typeface="Bell MT" panose="02020503060305020303" pitchFamily="18" charset="0"/>
              </a:rPr>
              <a:t>Plain English explanations</a:t>
            </a:r>
          </a:p>
          <a:p>
            <a:pPr marL="0" indent="0">
              <a:buNone/>
            </a:pPr>
            <a:r>
              <a:rPr lang="en-IN" dirty="0">
                <a:latin typeface="Bell MT" panose="02020503060305020303" pitchFamily="18" charset="0"/>
              </a:rPr>
              <a:t>Contextual security warnings</a:t>
            </a:r>
          </a:p>
          <a:p>
            <a:pPr marL="0" indent="0">
              <a:buNone/>
            </a:pPr>
            <a:r>
              <a:rPr lang="en-IN" dirty="0">
                <a:latin typeface="Bell MT" panose="02020503060305020303" pitchFamily="18" charset="0"/>
              </a:rPr>
              <a:t>Actionable recommendations</a:t>
            </a:r>
          </a:p>
          <a:p>
            <a:pPr marL="0" indent="0">
              <a:buNone/>
            </a:pPr>
            <a:endParaRPr lang="en-IN" sz="2600" dirty="0">
              <a:latin typeface="Bell MT" panose="02020503060305020303" pitchFamily="18" charset="0"/>
            </a:endParaRPr>
          </a:p>
          <a:p>
            <a:pPr marL="0" indent="0">
              <a:buNone/>
            </a:pPr>
            <a:endParaRPr lang="en-IN" sz="2600" dirty="0">
              <a:latin typeface="Bell MT" panose="02020503060305020303" pitchFamily="18" charset="0"/>
            </a:endParaRPr>
          </a:p>
          <a:p>
            <a:endParaRPr lang="en-IN" dirty="0"/>
          </a:p>
        </p:txBody>
      </p:sp>
    </p:spTree>
    <p:extLst>
      <p:ext uri="{BB962C8B-B14F-4D97-AF65-F5344CB8AC3E}">
        <p14:creationId xmlns:p14="http://schemas.microsoft.com/office/powerpoint/2010/main" val="3391074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79737B-81EB-3766-3125-D38CF8C1F774}"/>
              </a:ext>
            </a:extLst>
          </p:cNvPr>
          <p:cNvSpPr>
            <a:spLocks noGrp="1"/>
          </p:cNvSpPr>
          <p:nvPr>
            <p:ph idx="1"/>
          </p:nvPr>
        </p:nvSpPr>
        <p:spPr>
          <a:xfrm>
            <a:off x="838199" y="261256"/>
            <a:ext cx="8101615" cy="6596743"/>
          </a:xfrm>
        </p:spPr>
        <p:txBody>
          <a:bodyPr>
            <a:normAutofit fontScale="40000" lnSpcReduction="20000"/>
          </a:bodyPr>
          <a:lstStyle/>
          <a:p>
            <a:pPr marL="0" indent="0">
              <a:buNone/>
            </a:pPr>
            <a:r>
              <a:rPr lang="en-IN" sz="4000" b="1" dirty="0">
                <a:latin typeface="Bell MT" panose="02020503060305020303" pitchFamily="18" charset="0"/>
              </a:rPr>
              <a:t>4. Transparent Scoring Algorithm:</a:t>
            </a:r>
            <a:endParaRPr lang="en-IN" sz="4000" dirty="0">
              <a:latin typeface="Bell MT" panose="02020503060305020303" pitchFamily="18" charset="0"/>
            </a:endParaRPr>
          </a:p>
          <a:p>
            <a:pPr marL="0" indent="0">
              <a:buNone/>
            </a:pPr>
            <a:r>
              <a:rPr lang="en-IN" sz="4000" dirty="0">
                <a:latin typeface="Bell MT" panose="02020503060305020303" pitchFamily="18" charset="0"/>
              </a:rPr>
              <a:t>Open methodology (no black box)</a:t>
            </a:r>
          </a:p>
          <a:p>
            <a:pPr marL="0" indent="0">
              <a:buNone/>
            </a:pPr>
            <a:r>
              <a:rPr lang="en-IN" sz="4000" dirty="0">
                <a:latin typeface="Bell MT" panose="02020503060305020303" pitchFamily="18" charset="0"/>
              </a:rPr>
              <a:t>Deductions clearly explained</a:t>
            </a:r>
          </a:p>
          <a:p>
            <a:pPr marL="0" indent="0">
              <a:buNone/>
            </a:pPr>
            <a:r>
              <a:rPr lang="en-IN" sz="4000" dirty="0">
                <a:latin typeface="Bell MT" panose="02020503060305020303" pitchFamily="18" charset="0"/>
              </a:rPr>
              <a:t>Users understand their score</a:t>
            </a:r>
          </a:p>
          <a:p>
            <a:pPr marL="0" indent="0">
              <a:buNone/>
            </a:pPr>
            <a:r>
              <a:rPr lang="en-IN" sz="4000" dirty="0">
                <a:latin typeface="Bell MT" panose="02020503060305020303" pitchFamily="18" charset="0"/>
              </a:rPr>
              <a:t>Reproducible results</a:t>
            </a:r>
          </a:p>
          <a:p>
            <a:pPr marL="0" indent="0">
              <a:buNone/>
            </a:pPr>
            <a:r>
              <a:rPr lang="en-IN" sz="4000" b="1" dirty="0">
                <a:latin typeface="Bell MT" panose="02020503060305020303" pitchFamily="18" charset="0"/>
              </a:rPr>
              <a:t>5. Zero-Installation Web Interface:</a:t>
            </a:r>
            <a:endParaRPr lang="en-IN" sz="4000" dirty="0">
              <a:latin typeface="Bell MT" panose="02020503060305020303" pitchFamily="18" charset="0"/>
            </a:endParaRPr>
          </a:p>
          <a:p>
            <a:pPr marL="0" indent="0">
              <a:buNone/>
            </a:pPr>
            <a:r>
              <a:rPr lang="en-IN" sz="4000" dirty="0">
                <a:latin typeface="Bell MT" panose="02020503060305020303" pitchFamily="18" charset="0"/>
              </a:rPr>
              <a:t>Runs entirely in browser</a:t>
            </a:r>
          </a:p>
          <a:p>
            <a:pPr marL="0" indent="0">
              <a:buNone/>
            </a:pPr>
            <a:r>
              <a:rPr lang="en-IN" sz="4000" dirty="0">
                <a:latin typeface="Bell MT" panose="02020503060305020303" pitchFamily="18" charset="0"/>
              </a:rPr>
              <a:t>No software to install</a:t>
            </a:r>
          </a:p>
          <a:p>
            <a:pPr marL="0" indent="0">
              <a:buNone/>
            </a:pPr>
            <a:r>
              <a:rPr lang="en-IN" sz="4000" dirty="0">
                <a:latin typeface="Bell MT" panose="02020503060305020303" pitchFamily="18" charset="0"/>
              </a:rPr>
              <a:t>Cross-platform compatibility</a:t>
            </a:r>
          </a:p>
          <a:p>
            <a:pPr marL="0" indent="0">
              <a:buNone/>
            </a:pPr>
            <a:r>
              <a:rPr lang="en-IN" sz="4000" b="1" dirty="0">
                <a:latin typeface="Bell MT" panose="02020503060305020303" pitchFamily="18" charset="0"/>
              </a:rPr>
              <a:t>6. Privacy-Conscious:</a:t>
            </a:r>
          </a:p>
          <a:p>
            <a:pPr marL="0" indent="0">
              <a:buNone/>
            </a:pPr>
            <a:r>
              <a:rPr lang="en-IN" sz="4000" dirty="0">
                <a:latin typeface="Bell MT" panose="02020503060305020303" pitchFamily="18" charset="0"/>
              </a:rPr>
              <a:t>No data storage</a:t>
            </a:r>
          </a:p>
          <a:p>
            <a:pPr marL="0" indent="0">
              <a:buNone/>
            </a:pPr>
            <a:r>
              <a:rPr lang="en-IN" sz="4000" dirty="0">
                <a:latin typeface="Bell MT" panose="02020503060305020303" pitchFamily="18" charset="0"/>
              </a:rPr>
              <a:t>No user tracking</a:t>
            </a:r>
          </a:p>
          <a:p>
            <a:pPr marL="0" indent="0">
              <a:buNone/>
            </a:pPr>
            <a:r>
              <a:rPr lang="en-IN" sz="4000" dirty="0">
                <a:latin typeface="Bell MT" panose="02020503060305020303" pitchFamily="18" charset="0"/>
              </a:rPr>
              <a:t>Minimal logging</a:t>
            </a:r>
          </a:p>
          <a:p>
            <a:pPr marL="0" indent="0">
              <a:buNone/>
            </a:pPr>
            <a:r>
              <a:rPr lang="en-IN" sz="4000" dirty="0">
                <a:latin typeface="Bell MT" panose="02020503060305020303" pitchFamily="18" charset="0"/>
              </a:rPr>
              <a:t>Client-side rendering</a:t>
            </a:r>
          </a:p>
          <a:p>
            <a:pPr marL="0" indent="0">
              <a:buNone/>
            </a:pPr>
            <a:r>
              <a:rPr lang="en-IN" sz="4000" b="1" dirty="0">
                <a:latin typeface="Bell MT" panose="02020503060305020303" pitchFamily="18" charset="0"/>
              </a:rPr>
              <a:t>7. Academic Research Value:</a:t>
            </a:r>
            <a:endParaRPr lang="en-IN" sz="4000" dirty="0">
              <a:latin typeface="Bell MT" panose="02020503060305020303" pitchFamily="18" charset="0"/>
            </a:endParaRPr>
          </a:p>
          <a:p>
            <a:pPr marL="0" indent="0">
              <a:buNone/>
            </a:pPr>
            <a:r>
              <a:rPr lang="en-IN" sz="4000" dirty="0">
                <a:latin typeface="Bell MT" panose="02020503060305020303" pitchFamily="18" charset="0"/>
              </a:rPr>
              <a:t> Demonstrates PKI infrastructure</a:t>
            </a:r>
          </a:p>
          <a:p>
            <a:pPr marL="0" indent="0">
              <a:buNone/>
            </a:pPr>
            <a:r>
              <a:rPr lang="en-IN" sz="4000" dirty="0">
                <a:latin typeface="Bell MT" panose="02020503060305020303" pitchFamily="18" charset="0"/>
              </a:rPr>
              <a:t>Shows X.509 certificate parsing</a:t>
            </a:r>
          </a:p>
          <a:p>
            <a:pPr marL="0" indent="0">
              <a:buNone/>
            </a:pPr>
            <a:r>
              <a:rPr lang="en-IN" sz="4000" dirty="0">
                <a:latin typeface="Bell MT" panose="02020503060305020303" pitchFamily="18" charset="0"/>
              </a:rPr>
              <a:t>Implements cryptographic protocols</a:t>
            </a:r>
          </a:p>
          <a:p>
            <a:pPr marL="0" indent="0">
              <a:buNone/>
            </a:pPr>
            <a:r>
              <a:rPr lang="en-IN" sz="4000" dirty="0">
                <a:latin typeface="Bell MT" panose="02020503060305020303" pitchFamily="18" charset="0"/>
              </a:rPr>
              <a:t>Real-world cybersecurity application</a:t>
            </a:r>
          </a:p>
          <a:p>
            <a:pPr marL="0" indent="0">
              <a:buNone/>
            </a:pPr>
            <a:endParaRPr lang="en-IN" sz="4000" dirty="0">
              <a:latin typeface="Bell MT" panose="02020503060305020303" pitchFamily="18" charset="0"/>
            </a:endParaRPr>
          </a:p>
          <a:p>
            <a:pPr marL="0" indent="0">
              <a:buNone/>
            </a:pPr>
            <a:br>
              <a:rPr lang="en-IN" sz="4000" dirty="0">
                <a:latin typeface="Bell MT" panose="02020503060305020303" pitchFamily="18" charset="0"/>
              </a:rPr>
            </a:br>
            <a:endParaRPr lang="en-IN" sz="4000" dirty="0">
              <a:latin typeface="Bell MT" panose="02020503060305020303" pitchFamily="18" charset="0"/>
            </a:endParaRPr>
          </a:p>
          <a:p>
            <a:endParaRPr lang="en-IN" dirty="0"/>
          </a:p>
        </p:txBody>
      </p:sp>
    </p:spTree>
    <p:extLst>
      <p:ext uri="{BB962C8B-B14F-4D97-AF65-F5344CB8AC3E}">
        <p14:creationId xmlns:p14="http://schemas.microsoft.com/office/powerpoint/2010/main" val="1798956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6C865-D17F-1674-9600-D925189639F8}"/>
              </a:ext>
            </a:extLst>
          </p:cNvPr>
          <p:cNvSpPr>
            <a:spLocks noGrp="1"/>
          </p:cNvSpPr>
          <p:nvPr>
            <p:ph type="title"/>
          </p:nvPr>
        </p:nvSpPr>
        <p:spPr/>
        <p:txBody>
          <a:bodyPr/>
          <a:lstStyle/>
          <a:p>
            <a:r>
              <a:rPr lang="en-IN" dirty="0"/>
              <a:t>Architecture:</a:t>
            </a:r>
          </a:p>
        </p:txBody>
      </p:sp>
      <p:pic>
        <p:nvPicPr>
          <p:cNvPr id="5" name="Content Placeholder 4">
            <a:extLst>
              <a:ext uri="{FF2B5EF4-FFF2-40B4-BE49-F238E27FC236}">
                <a16:creationId xmlns:a16="http://schemas.microsoft.com/office/drawing/2014/main" id="{36CCD842-58A0-BE04-118A-F734527E78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2496" y="1825625"/>
            <a:ext cx="6527007" cy="4351338"/>
          </a:xfrm>
          <a:prstGeom prst="rect">
            <a:avLst/>
          </a:prstGeom>
        </p:spPr>
      </p:pic>
    </p:spTree>
    <p:extLst>
      <p:ext uri="{BB962C8B-B14F-4D97-AF65-F5344CB8AC3E}">
        <p14:creationId xmlns:p14="http://schemas.microsoft.com/office/powerpoint/2010/main" val="2842755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69AB4-0494-25BF-650D-3EB5BA1F4C5A}"/>
              </a:ext>
            </a:extLst>
          </p:cNvPr>
          <p:cNvSpPr>
            <a:spLocks noGrp="1"/>
          </p:cNvSpPr>
          <p:nvPr>
            <p:ph type="title"/>
          </p:nvPr>
        </p:nvSpPr>
        <p:spPr>
          <a:xfrm>
            <a:off x="474215" y="187573"/>
            <a:ext cx="10515600" cy="939892"/>
          </a:xfrm>
        </p:spPr>
        <p:txBody>
          <a:bodyPr/>
          <a:lstStyle/>
          <a:p>
            <a:r>
              <a:rPr lang="en-IN" b="1" dirty="0">
                <a:latin typeface="Agency FB" panose="020B0503020202020204" pitchFamily="34" charset="0"/>
              </a:rPr>
              <a:t>MODULES:</a:t>
            </a:r>
          </a:p>
        </p:txBody>
      </p:sp>
      <p:sp>
        <p:nvSpPr>
          <p:cNvPr id="3" name="Content Placeholder 2">
            <a:extLst>
              <a:ext uri="{FF2B5EF4-FFF2-40B4-BE49-F238E27FC236}">
                <a16:creationId xmlns:a16="http://schemas.microsoft.com/office/drawing/2014/main" id="{A1334E50-41BB-5D95-5AC1-918CFEF35378}"/>
              </a:ext>
            </a:extLst>
          </p:cNvPr>
          <p:cNvSpPr>
            <a:spLocks noGrp="1"/>
          </p:cNvSpPr>
          <p:nvPr>
            <p:ph idx="1"/>
          </p:nvPr>
        </p:nvSpPr>
        <p:spPr>
          <a:xfrm>
            <a:off x="598503" y="1127465"/>
            <a:ext cx="10515600" cy="4351338"/>
          </a:xfrm>
        </p:spPr>
        <p:txBody>
          <a:bodyPr>
            <a:normAutofit/>
          </a:bodyPr>
          <a:lstStyle/>
          <a:p>
            <a:pPr marL="0" indent="0">
              <a:buNone/>
            </a:pPr>
            <a:r>
              <a:rPr lang="en-IN" dirty="0">
                <a:latin typeface="Bell MT" panose="02020503060305020303" pitchFamily="18" charset="0"/>
              </a:rPr>
              <a:t>1.Certificate Information Module</a:t>
            </a:r>
          </a:p>
          <a:p>
            <a:pPr marL="0" indent="0">
              <a:buNone/>
            </a:pPr>
            <a:r>
              <a:rPr lang="en-IN" dirty="0">
                <a:latin typeface="Bell MT" panose="02020503060305020303" pitchFamily="18" charset="0"/>
              </a:rPr>
              <a:t>2.TLS Protocol checker Module</a:t>
            </a:r>
          </a:p>
          <a:p>
            <a:pPr marL="0" indent="0">
              <a:buNone/>
            </a:pPr>
            <a:r>
              <a:rPr lang="en-IN" dirty="0">
                <a:latin typeface="Bell MT" panose="02020503060305020303" pitchFamily="18" charset="0"/>
              </a:rPr>
              <a:t>3.Scoring and Trust Module</a:t>
            </a:r>
          </a:p>
          <a:p>
            <a:pPr marL="0" indent="0">
              <a:buNone/>
            </a:pPr>
            <a:r>
              <a:rPr lang="en-IN" dirty="0">
                <a:latin typeface="Bell MT" panose="02020503060305020303" pitchFamily="18" charset="0"/>
              </a:rPr>
              <a:t>4.Security checks Module</a:t>
            </a:r>
          </a:p>
          <a:p>
            <a:pPr marL="0" indent="0">
              <a:buNone/>
            </a:pPr>
            <a:r>
              <a:rPr lang="en-IN" dirty="0">
                <a:latin typeface="Bell MT" panose="02020503060305020303" pitchFamily="18" charset="0"/>
              </a:rPr>
              <a:t>5.Frontend Module</a:t>
            </a:r>
          </a:p>
          <a:p>
            <a:pPr marL="0" indent="0">
              <a:buNone/>
            </a:pPr>
            <a:endParaRPr lang="en-IN" dirty="0"/>
          </a:p>
        </p:txBody>
      </p:sp>
    </p:spTree>
    <p:extLst>
      <p:ext uri="{BB962C8B-B14F-4D97-AF65-F5344CB8AC3E}">
        <p14:creationId xmlns:p14="http://schemas.microsoft.com/office/powerpoint/2010/main" val="827964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6AAB8-4872-8A75-86E1-876DC74332BD}"/>
              </a:ext>
            </a:extLst>
          </p:cNvPr>
          <p:cNvSpPr>
            <a:spLocks noGrp="1"/>
          </p:cNvSpPr>
          <p:nvPr>
            <p:ph type="title"/>
          </p:nvPr>
        </p:nvSpPr>
        <p:spPr/>
        <p:txBody>
          <a:bodyPr/>
          <a:lstStyle/>
          <a:p>
            <a:r>
              <a:rPr lang="en-IN" dirty="0" err="1"/>
              <a:t>UseCase</a:t>
            </a:r>
            <a:r>
              <a:rPr lang="en-IN" dirty="0"/>
              <a:t> Diagram:</a:t>
            </a:r>
          </a:p>
        </p:txBody>
      </p:sp>
      <p:pic>
        <p:nvPicPr>
          <p:cNvPr id="5" name="Content Placeholder 4">
            <a:extLst>
              <a:ext uri="{FF2B5EF4-FFF2-40B4-BE49-F238E27FC236}">
                <a16:creationId xmlns:a16="http://schemas.microsoft.com/office/drawing/2014/main" id="{A422F654-038D-535E-45EB-62B97ACDF2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7647" y="1475592"/>
            <a:ext cx="3588272" cy="5382408"/>
          </a:xfrm>
          <a:prstGeom prst="rect">
            <a:avLst/>
          </a:prstGeom>
        </p:spPr>
      </p:pic>
    </p:spTree>
    <p:extLst>
      <p:ext uri="{BB962C8B-B14F-4D97-AF65-F5344CB8AC3E}">
        <p14:creationId xmlns:p14="http://schemas.microsoft.com/office/powerpoint/2010/main" val="1918458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CB7FA-5947-77E3-9525-9194DBCFA670}"/>
              </a:ext>
            </a:extLst>
          </p:cNvPr>
          <p:cNvSpPr>
            <a:spLocks noGrp="1"/>
          </p:cNvSpPr>
          <p:nvPr>
            <p:ph type="title"/>
          </p:nvPr>
        </p:nvSpPr>
        <p:spPr/>
        <p:txBody>
          <a:bodyPr/>
          <a:lstStyle/>
          <a:p>
            <a:r>
              <a:rPr lang="en-IN" b="1" dirty="0">
                <a:latin typeface="Agency FB" panose="020B0503020202020204" pitchFamily="34" charset="0"/>
              </a:rPr>
              <a:t>ACTIVITY DIAGRAM:</a:t>
            </a:r>
          </a:p>
        </p:txBody>
      </p:sp>
      <p:pic>
        <p:nvPicPr>
          <p:cNvPr id="5" name="Content Placeholder 4">
            <a:extLst>
              <a:ext uri="{FF2B5EF4-FFF2-40B4-BE49-F238E27FC236}">
                <a16:creationId xmlns:a16="http://schemas.microsoft.com/office/drawing/2014/main" id="{7D91DA8D-5C27-DB5D-5699-A7161D5782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20620" y="1292224"/>
            <a:ext cx="3694113" cy="5541170"/>
          </a:xfrm>
          <a:prstGeom prst="rect">
            <a:avLst/>
          </a:prstGeom>
        </p:spPr>
      </p:pic>
    </p:spTree>
    <p:extLst>
      <p:ext uri="{BB962C8B-B14F-4D97-AF65-F5344CB8AC3E}">
        <p14:creationId xmlns:p14="http://schemas.microsoft.com/office/powerpoint/2010/main" val="169212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6562B-288F-4319-043B-DA41FD46DA55}"/>
              </a:ext>
            </a:extLst>
          </p:cNvPr>
          <p:cNvSpPr>
            <a:spLocks noGrp="1"/>
          </p:cNvSpPr>
          <p:nvPr>
            <p:ph type="title"/>
          </p:nvPr>
        </p:nvSpPr>
        <p:spPr/>
        <p:txBody>
          <a:bodyPr/>
          <a:lstStyle/>
          <a:p>
            <a:r>
              <a:rPr lang="en-IN" b="1" dirty="0">
                <a:latin typeface="Agency FB" panose="020B0503020202020204" pitchFamily="34" charset="0"/>
              </a:rPr>
              <a:t>SEQUENCE DIAGRAM:</a:t>
            </a:r>
          </a:p>
        </p:txBody>
      </p:sp>
      <p:pic>
        <p:nvPicPr>
          <p:cNvPr id="5" name="Content Placeholder 4">
            <a:extLst>
              <a:ext uri="{FF2B5EF4-FFF2-40B4-BE49-F238E27FC236}">
                <a16:creationId xmlns:a16="http://schemas.microsoft.com/office/drawing/2014/main" id="{354F47F9-49FA-F047-FFEF-2727FBAC6B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44420" y="1317624"/>
            <a:ext cx="3711047" cy="5566571"/>
          </a:xfrm>
          <a:prstGeom prst="rect">
            <a:avLst/>
          </a:prstGeom>
        </p:spPr>
      </p:pic>
    </p:spTree>
    <p:extLst>
      <p:ext uri="{BB962C8B-B14F-4D97-AF65-F5344CB8AC3E}">
        <p14:creationId xmlns:p14="http://schemas.microsoft.com/office/powerpoint/2010/main" val="102345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9DCF-ADA3-C888-9567-ED5D0FC38950}"/>
              </a:ext>
            </a:extLst>
          </p:cNvPr>
          <p:cNvSpPr>
            <a:spLocks noGrp="1"/>
          </p:cNvSpPr>
          <p:nvPr>
            <p:ph type="title"/>
          </p:nvPr>
        </p:nvSpPr>
        <p:spPr/>
        <p:txBody>
          <a:bodyPr/>
          <a:lstStyle/>
          <a:p>
            <a:r>
              <a:rPr lang="en-IN" dirty="0"/>
              <a:t>Class Diagram:</a:t>
            </a:r>
          </a:p>
        </p:txBody>
      </p:sp>
      <p:pic>
        <p:nvPicPr>
          <p:cNvPr id="5" name="Content Placeholder 4">
            <a:extLst>
              <a:ext uri="{FF2B5EF4-FFF2-40B4-BE49-F238E27FC236}">
                <a16:creationId xmlns:a16="http://schemas.microsoft.com/office/drawing/2014/main" id="{90C81101-0F26-35A9-5658-10DB1A5633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0334" y="1399496"/>
            <a:ext cx="3628435" cy="5442653"/>
          </a:xfrm>
          <a:prstGeom prst="rect">
            <a:avLst/>
          </a:prstGeom>
        </p:spPr>
      </p:pic>
    </p:spTree>
    <p:extLst>
      <p:ext uri="{BB962C8B-B14F-4D97-AF65-F5344CB8AC3E}">
        <p14:creationId xmlns:p14="http://schemas.microsoft.com/office/powerpoint/2010/main" val="1013426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86C94-BD0D-98A1-FFA2-0F82AFA4B824}"/>
              </a:ext>
            </a:extLst>
          </p:cNvPr>
          <p:cNvSpPr>
            <a:spLocks noGrp="1"/>
          </p:cNvSpPr>
          <p:nvPr>
            <p:ph type="title"/>
          </p:nvPr>
        </p:nvSpPr>
        <p:spPr/>
        <p:txBody>
          <a:bodyPr/>
          <a:lstStyle/>
          <a:p>
            <a:r>
              <a:rPr lang="en-IN" dirty="0"/>
              <a:t>Outputs:</a:t>
            </a:r>
          </a:p>
        </p:txBody>
      </p:sp>
    </p:spTree>
    <p:extLst>
      <p:ext uri="{BB962C8B-B14F-4D97-AF65-F5344CB8AC3E}">
        <p14:creationId xmlns:p14="http://schemas.microsoft.com/office/powerpoint/2010/main" val="1844754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1471A-081F-CA63-99EF-CC41A0BDA2A1}"/>
              </a:ext>
            </a:extLst>
          </p:cNvPr>
          <p:cNvSpPr>
            <a:spLocks noGrp="1"/>
          </p:cNvSpPr>
          <p:nvPr>
            <p:ph type="title"/>
          </p:nvPr>
        </p:nvSpPr>
        <p:spPr/>
        <p:txBody>
          <a:bodyPr/>
          <a:lstStyle/>
          <a:p>
            <a:r>
              <a:rPr lang="en-IN" b="1" dirty="0">
                <a:latin typeface="Agency FB" panose="020B0503020202020204" pitchFamily="34" charset="0"/>
              </a:rPr>
              <a:t>CONCLUSION:</a:t>
            </a:r>
          </a:p>
        </p:txBody>
      </p:sp>
      <p:sp>
        <p:nvSpPr>
          <p:cNvPr id="3" name="Content Placeholder 2">
            <a:extLst>
              <a:ext uri="{FF2B5EF4-FFF2-40B4-BE49-F238E27FC236}">
                <a16:creationId xmlns:a16="http://schemas.microsoft.com/office/drawing/2014/main" id="{EF87216D-C9DC-235B-B6F5-76B98CF9BB3A}"/>
              </a:ext>
            </a:extLst>
          </p:cNvPr>
          <p:cNvSpPr>
            <a:spLocks noGrp="1"/>
          </p:cNvSpPr>
          <p:nvPr>
            <p:ph idx="1"/>
          </p:nvPr>
        </p:nvSpPr>
        <p:spPr/>
        <p:txBody>
          <a:bodyPr/>
          <a:lstStyle/>
          <a:p>
            <a:r>
              <a:rPr lang="en-IN" sz="2400" b="1" dirty="0">
                <a:latin typeface="Bell MT" panose="02020503060305020303" pitchFamily="18" charset="0"/>
              </a:rPr>
              <a:t>Comprehensive Solution: </a:t>
            </a:r>
            <a:r>
              <a:rPr lang="en-IN" sz="2400" dirty="0">
                <a:latin typeface="Bell MT" panose="02020503060305020303" pitchFamily="18" charset="0"/>
              </a:rPr>
              <a:t>Complete SSL/TLS security analysis</a:t>
            </a:r>
          </a:p>
          <a:p>
            <a:r>
              <a:rPr lang="en-IN" sz="2400" b="1" dirty="0">
                <a:latin typeface="Bell MT" panose="02020503060305020303" pitchFamily="18" charset="0"/>
              </a:rPr>
              <a:t>User-Friendly:</a:t>
            </a:r>
            <a:r>
              <a:rPr lang="en-IN" sz="2400" dirty="0">
                <a:latin typeface="Bell MT" panose="02020503060305020303" pitchFamily="18" charset="0"/>
              </a:rPr>
              <a:t> Accessible to non-technical users</a:t>
            </a:r>
          </a:p>
          <a:p>
            <a:r>
              <a:rPr lang="en-IN" sz="2400" b="1" dirty="0">
                <a:latin typeface="Bell MT" panose="02020503060305020303" pitchFamily="18" charset="0"/>
              </a:rPr>
              <a:t>Educational:</a:t>
            </a:r>
            <a:r>
              <a:rPr lang="en-IN" sz="2400" dirty="0">
                <a:latin typeface="Bell MT" panose="02020503060305020303" pitchFamily="18" charset="0"/>
              </a:rPr>
              <a:t> Teaches security best practices</a:t>
            </a:r>
          </a:p>
          <a:p>
            <a:r>
              <a:rPr lang="en-IN" sz="2400" b="1" dirty="0">
                <a:latin typeface="Bell MT" panose="02020503060305020303" pitchFamily="18" charset="0"/>
              </a:rPr>
              <a:t>Free &amp; Open: </a:t>
            </a:r>
            <a:r>
              <a:rPr lang="en-IN" sz="2400" dirty="0">
                <a:latin typeface="Bell MT" panose="02020503060305020303" pitchFamily="18" charset="0"/>
              </a:rPr>
              <a:t>No cost, no barriers</a:t>
            </a:r>
          </a:p>
          <a:p>
            <a:r>
              <a:rPr lang="en-IN" sz="2400" b="1" dirty="0">
                <a:latin typeface="Bell MT" panose="02020503060305020303" pitchFamily="18" charset="0"/>
              </a:rPr>
              <a:t>Real-Time: </a:t>
            </a:r>
            <a:r>
              <a:rPr lang="en-IN" sz="2400" dirty="0">
                <a:latin typeface="Bell MT" panose="02020503060305020303" pitchFamily="18" charset="0"/>
              </a:rPr>
              <a:t>Live OCSP/CRL verification</a:t>
            </a:r>
          </a:p>
          <a:p>
            <a:r>
              <a:rPr lang="en-IN" sz="2400" b="1" dirty="0">
                <a:latin typeface="Bell MT" panose="02020503060305020303" pitchFamily="18" charset="0"/>
              </a:rPr>
              <a:t>Transparent:</a:t>
            </a:r>
            <a:r>
              <a:rPr lang="en-IN" sz="2400" dirty="0">
                <a:latin typeface="Bell MT" panose="02020503060305020303" pitchFamily="18" charset="0"/>
              </a:rPr>
              <a:t> Clear scoring methodology</a:t>
            </a:r>
          </a:p>
          <a:p>
            <a:endParaRPr lang="en-IN" dirty="0"/>
          </a:p>
        </p:txBody>
      </p:sp>
    </p:spTree>
    <p:extLst>
      <p:ext uri="{BB962C8B-B14F-4D97-AF65-F5344CB8AC3E}">
        <p14:creationId xmlns:p14="http://schemas.microsoft.com/office/powerpoint/2010/main" val="327460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55A9E-7252-3CF4-8F3F-D0077FC6D1CC}"/>
              </a:ext>
            </a:extLst>
          </p:cNvPr>
          <p:cNvSpPr>
            <a:spLocks noGrp="1"/>
          </p:cNvSpPr>
          <p:nvPr>
            <p:ph type="title"/>
          </p:nvPr>
        </p:nvSpPr>
        <p:spPr/>
        <p:txBody>
          <a:bodyPr/>
          <a:lstStyle/>
          <a:p>
            <a:r>
              <a:rPr lang="en-IN" b="1" dirty="0">
                <a:latin typeface="Agency FB" panose="020B0503020202020204" pitchFamily="34" charset="0"/>
              </a:rPr>
              <a:t>REFERENCES:</a:t>
            </a:r>
          </a:p>
        </p:txBody>
      </p:sp>
      <p:sp>
        <p:nvSpPr>
          <p:cNvPr id="4" name="Rectangle 1">
            <a:extLst>
              <a:ext uri="{FF2B5EF4-FFF2-40B4-BE49-F238E27FC236}">
                <a16:creationId xmlns:a16="http://schemas.microsoft.com/office/drawing/2014/main" id="{5AE51B66-64FE-EC17-3DEC-DEDF814588FB}"/>
              </a:ext>
            </a:extLst>
          </p:cNvPr>
          <p:cNvSpPr>
            <a:spLocks noGrp="1" noChangeArrowheads="1"/>
          </p:cNvSpPr>
          <p:nvPr>
            <p:ph idx="1"/>
          </p:nvPr>
        </p:nvSpPr>
        <p:spPr bwMode="auto">
          <a:xfrm>
            <a:off x="838200" y="1532337"/>
            <a:ext cx="1011684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Bell MT" panose="02020503060305020303" pitchFamily="18" charset="0"/>
              </a:rPr>
              <a:t>Transport Layer Security (TLS) Documentation</a:t>
            </a:r>
            <a:r>
              <a:rPr kumimoji="0" lang="en-US" altLang="en-US" sz="2400" b="0" i="0" u="none" strike="noStrike" cap="none" normalizeH="0" baseline="0" dirty="0">
                <a:ln>
                  <a:noFill/>
                </a:ln>
                <a:solidFill>
                  <a:schemeClr val="tx1"/>
                </a:solidFill>
                <a:effectLst/>
                <a:latin typeface="Bell MT" panose="02020503060305020303"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Bell MT" panose="02020503060305020303" pitchFamily="18" charset="0"/>
              </a:rPr>
              <a:t>– Official documentation explaining how TLS provides secure communication over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Bell MT" panose="02020503060305020303" pitchFamily="18" charset="0"/>
              </a:rPr>
              <a:t>Secure Sockets Layer (SSL) Protocol Resources</a:t>
            </a:r>
            <a:r>
              <a:rPr kumimoji="0" lang="en-US" altLang="en-US" sz="2400" b="0" i="0" u="none" strike="noStrike" cap="none" normalizeH="0" baseline="0" dirty="0">
                <a:ln>
                  <a:noFill/>
                </a:ln>
                <a:solidFill>
                  <a:schemeClr val="tx1"/>
                </a:solidFill>
                <a:effectLst/>
                <a:latin typeface="Bell MT" panose="02020503060305020303"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Bell MT" panose="02020503060305020303" pitchFamily="18" charset="0"/>
              </a:rPr>
              <a:t>– Information about SSL certificates and encryption mechanisms used in secure websites.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Bell MT" panose="02020503060305020303" pitchFamily="18" charset="0"/>
              </a:rPr>
              <a:t>OpenSSL Documentation</a:t>
            </a:r>
            <a:r>
              <a:rPr kumimoji="0" lang="en-US" altLang="en-US" sz="2400" b="0" i="0" u="none" strike="noStrike" cap="none" normalizeH="0" baseline="0" dirty="0">
                <a:ln>
                  <a:noFill/>
                </a:ln>
                <a:solidFill>
                  <a:schemeClr val="tx1"/>
                </a:solidFill>
                <a:effectLst/>
                <a:latin typeface="Bell MT" panose="02020503060305020303"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Bell MT" panose="02020503060305020303" pitchFamily="18" charset="0"/>
              </a:rPr>
              <a:t>– Tools and libraries used for implementing SSL/TLS protocols and retrieving certificate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Bell MT" panose="02020503060305020303" pitchFamily="18" charset="0"/>
              </a:rPr>
              <a:t>GitHub Documentation</a:t>
            </a:r>
            <a:endParaRPr lang="en-US" altLang="en-US" sz="2400" dirty="0">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Bell MT" panose="02020503060305020303" pitchFamily="18" charset="0"/>
              </a:rPr>
              <a:t>– Used for project version control and code hosting.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Bell MT" panose="02020503060305020303" pitchFamily="18" charset="0"/>
              </a:rPr>
              <a:t>Cybersecurity Research Articles and Online Resources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Bell MT" panose="02020503060305020303" pitchFamily="18" charset="0"/>
              </a:rPr>
              <a:t> – For understanding SSL certificate validation and secure web communication.</a:t>
            </a:r>
          </a:p>
        </p:txBody>
      </p:sp>
    </p:spTree>
    <p:extLst>
      <p:ext uri="{BB962C8B-B14F-4D97-AF65-F5344CB8AC3E}">
        <p14:creationId xmlns:p14="http://schemas.microsoft.com/office/powerpoint/2010/main" val="1589292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1CBAC9-8B0B-CCE7-C773-61D0E13EF827}"/>
              </a:ext>
            </a:extLst>
          </p:cNvPr>
          <p:cNvSpPr>
            <a:spLocks noGrp="1"/>
          </p:cNvSpPr>
          <p:nvPr>
            <p:ph idx="1"/>
          </p:nvPr>
        </p:nvSpPr>
        <p:spPr>
          <a:xfrm>
            <a:off x="2187606" y="2233997"/>
            <a:ext cx="7338134" cy="2577699"/>
          </a:xfrm>
        </p:spPr>
        <p:txBody>
          <a:bodyPr>
            <a:normAutofit/>
          </a:bodyPr>
          <a:lstStyle/>
          <a:p>
            <a:pPr marL="0" indent="0">
              <a:buNone/>
            </a:pPr>
            <a:r>
              <a:rPr lang="en-IN" sz="11500" b="1" dirty="0">
                <a:latin typeface="Brush Script MT" panose="03060802040406070304" pitchFamily="66" charset="0"/>
              </a:rPr>
              <a:t>Thank You..</a:t>
            </a:r>
          </a:p>
        </p:txBody>
      </p:sp>
    </p:spTree>
    <p:extLst>
      <p:ext uri="{BB962C8B-B14F-4D97-AF65-F5344CB8AC3E}">
        <p14:creationId xmlns:p14="http://schemas.microsoft.com/office/powerpoint/2010/main" val="2602617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1036</Words>
  <Application>Microsoft Office PowerPoint</Application>
  <PresentationFormat>Widescreen</PresentationFormat>
  <Paragraphs>167</Paragraphs>
  <Slides>19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Agency FB</vt:lpstr>
      <vt:lpstr>Aptos</vt:lpstr>
      <vt:lpstr>Aptos Display</vt:lpstr>
      <vt:lpstr>Arial</vt:lpstr>
      <vt:lpstr>Bell MT</vt:lpstr>
      <vt:lpstr>Brush Script MT</vt:lpstr>
      <vt:lpstr>Calibri Light</vt:lpstr>
      <vt:lpstr>Calisto MT</vt:lpstr>
      <vt:lpstr>Canva Sans</vt:lpstr>
      <vt:lpstr>Canva Sans Bold</vt:lpstr>
      <vt:lpstr>Times New Roman</vt:lpstr>
      <vt:lpstr>Office Theme</vt:lpstr>
      <vt:lpstr>PowerPoint Presentation</vt:lpstr>
      <vt:lpstr>TABLE OF CONTENTS:</vt:lpstr>
      <vt:lpstr>INTRODUCTION:</vt:lpstr>
      <vt:lpstr>ABSTRACT:</vt:lpstr>
      <vt:lpstr>EXISTING SYSTEM and DISADVANTAGES:</vt:lpstr>
      <vt:lpstr>PROPOSED SYSTEM:</vt:lpstr>
      <vt:lpstr>HARDWARE AND SOFTWARE REQUIREMENTS: </vt:lpstr>
      <vt:lpstr>NOVELTY OF THE PROJECT:</vt:lpstr>
      <vt:lpstr>PowerPoint Presentation</vt:lpstr>
      <vt:lpstr>Architecture:</vt:lpstr>
      <vt:lpstr>MODULES:</vt:lpstr>
      <vt:lpstr>UseCase Diagram:</vt:lpstr>
      <vt:lpstr>ACTIVITY DIAGRAM:</vt:lpstr>
      <vt:lpstr>SEQUENCE DIAGRAM:</vt:lpstr>
      <vt:lpstr>Class Diagram:</vt:lpstr>
      <vt:lpstr>Outputs: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yatelli Sahaja</dc:creator>
  <cp:lastModifiedBy>yatelli Sahaja</cp:lastModifiedBy>
  <cp:revision>3</cp:revision>
  <dcterms:created xsi:type="dcterms:W3CDTF">2026-03-16T16:56:12Z</dcterms:created>
  <dcterms:modified xsi:type="dcterms:W3CDTF">2026-03-17T03:47:06Z</dcterms:modified>
</cp:coreProperties>
</file>